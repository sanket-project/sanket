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1d857e7ec54ada" /><Relationship Type="http://schemas.openxmlformats.org/officeDocument/2006/relationships/extended-properties" Target="/docProps/app.xml" Id="R64d024dfbf0b48ce" /><Relationship Type="http://schemas.openxmlformats.org/officeDocument/2006/relationships/officeDocument" Target="/ppt/presentation.xml" Id="Radb0752875ba4d96" /></Relationships>
</file>

<file path=ppt/presentation.xml><?xml version="1.0" encoding="utf-8"?>
<p:presentation xmlns:p="http://schemas.openxmlformats.org/presentationml/2006/main">
  <p:sldMasterIdLst>
    <p:sldMasterId xmlns:r="http://schemas.openxmlformats.org/officeDocument/2006/relationships" id="2147483648" r:id="R31c3aa69c61f45dd"/>
  </p:sldMasterIdLst>
  <p:notesMasterIdLst>
    <p:notesMasterId xmlns:r="http://schemas.openxmlformats.org/officeDocument/2006/relationships" r:id="R4bbebb93773d4aa4"/>
  </p:notesMasterIdLst>
  <p:sldIdLst>
    <p:sldId xmlns:r="http://schemas.openxmlformats.org/officeDocument/2006/relationships" id="256" r:id="R43bd5a33856746ba"/>
    <p:sldId xmlns:r="http://schemas.openxmlformats.org/officeDocument/2006/relationships" id="257" r:id="R083da8fa086b44c9"/>
    <p:sldId xmlns:r="http://schemas.openxmlformats.org/officeDocument/2006/relationships" id="258" r:id="Rcb37dea0abb348a6"/>
    <p:sldId xmlns:r="http://schemas.openxmlformats.org/officeDocument/2006/relationships" id="259" r:id="Rca4e63fe4b024b07"/>
    <p:sldId xmlns:r="http://schemas.openxmlformats.org/officeDocument/2006/relationships" id="260" r:id="Rd56002918a4e4c78"/>
    <p:sldId xmlns:r="http://schemas.openxmlformats.org/officeDocument/2006/relationships" id="261" r:id="R1efd740ea238403b"/>
    <p:sldId xmlns:r="http://schemas.openxmlformats.org/officeDocument/2006/relationships" id="262" r:id="Re58950689a644fa6"/>
    <p:sldId xmlns:r="http://schemas.openxmlformats.org/officeDocument/2006/relationships" id="263" r:id="R913e35fa78494c84"/>
    <p:sldId xmlns:r="http://schemas.openxmlformats.org/officeDocument/2006/relationships" id="264" r:id="R4f4bbb2c2e3346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ba834b8b3b4fb6" /><Relationship Type="http://schemas.openxmlformats.org/officeDocument/2006/relationships/slideMaster" Target="/ppt/slideMasters/slideMaster1.xml" Id="R31c3aa69c61f45dd" /><Relationship Type="http://schemas.openxmlformats.org/officeDocument/2006/relationships/notesMaster" Target="/ppt/notesMasters/notesMaster1.xml" Id="R4bbebb93773d4aa4" /><Relationship Type="http://schemas.openxmlformats.org/officeDocument/2006/relationships/presProps" Target="/ppt/presProps.xml" Id="R43b2b353a0cb404e" /><Relationship Type="http://schemas.openxmlformats.org/officeDocument/2006/relationships/tableStyles" Target="/ppt/tableStyles.xml" Id="R1d4e6a9fe7cf4444" /><Relationship Type="http://schemas.openxmlformats.org/officeDocument/2006/relationships/slide" Target="/ppt/slides/slide1.xml" Id="R43bd5a33856746ba" /><Relationship Type="http://schemas.openxmlformats.org/officeDocument/2006/relationships/slide" Target="/ppt/slides/slide2.xml" Id="R083da8fa086b44c9" /><Relationship Type="http://schemas.openxmlformats.org/officeDocument/2006/relationships/slide" Target="/ppt/slides/slide3.xml" Id="Rcb37dea0abb348a6" /><Relationship Type="http://schemas.openxmlformats.org/officeDocument/2006/relationships/slide" Target="/ppt/slides/slide4.xml" Id="Rca4e63fe4b024b07" /><Relationship Type="http://schemas.openxmlformats.org/officeDocument/2006/relationships/slide" Target="/ppt/slides/slide5.xml" Id="Rd56002918a4e4c78" /><Relationship Type="http://schemas.openxmlformats.org/officeDocument/2006/relationships/slide" Target="/ppt/slides/slide6.xml" Id="R1efd740ea238403b" /><Relationship Type="http://schemas.openxmlformats.org/officeDocument/2006/relationships/slide" Target="/ppt/slides/slide7.xml" Id="Re58950689a644fa6" /><Relationship Type="http://schemas.openxmlformats.org/officeDocument/2006/relationships/slide" Target="/ppt/slides/slide8.xml" Id="R913e35fa78494c84" /><Relationship Type="http://schemas.openxmlformats.org/officeDocument/2006/relationships/slide" Target="/ppt/slides/slide9.xml" Id="R4f4bbb2c2e3346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4c736899c64d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48fa8a447c479c" /><Relationship Type="http://schemas.openxmlformats.org/officeDocument/2006/relationships/notesMaster" Target="/ppt/notesMasters/notesMaster1.xml" Id="R65cfc6a91d1249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7c7ecccef84bca" /><Relationship Type="http://schemas.openxmlformats.org/officeDocument/2006/relationships/notesMaster" Target="/ppt/notesMasters/notesMaster1.xml" Id="R96783e6f7ff842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0068336ba4430d" /><Relationship Type="http://schemas.openxmlformats.org/officeDocument/2006/relationships/notesMaster" Target="/ppt/notesMasters/notesMaster1.xml" Id="R180219f966b547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a36a9bc09a4edd" /><Relationship Type="http://schemas.openxmlformats.org/officeDocument/2006/relationships/notesMaster" Target="/ppt/notesMasters/notesMaster1.xml" Id="R985454b0523944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5ea5c9f7644fae" /><Relationship Type="http://schemas.openxmlformats.org/officeDocument/2006/relationships/notesMaster" Target="/ppt/notesMasters/notesMaster1.xml" Id="R1fed9d28925a4d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2b92ccbeba49cf" /><Relationship Type="http://schemas.openxmlformats.org/officeDocument/2006/relationships/notesMaster" Target="/ppt/notesMasters/notesMaster1.xml" Id="Reead89851bee47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389fc28f114c80" /><Relationship Type="http://schemas.openxmlformats.org/officeDocument/2006/relationships/notesMaster" Target="/ppt/notesMasters/notesMaster1.xml" Id="Rb04c0fe1d51b48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3e024f183741e4" /><Relationship Type="http://schemas.openxmlformats.org/officeDocument/2006/relationships/notesMaster" Target="/ppt/notesMasters/notesMaster1.xml" Id="R806c729b0d1249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330b79a1de4364" /><Relationship Type="http://schemas.openxmlformats.org/officeDocument/2006/relationships/notesMaster" Target="/ppt/notesMasters/notesMaster1.xml" Id="Re8006c8599ce40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Thank you for meeting me. I will explain what SANKET does, then we can check a sample of your data and explore one stock decision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How do you currently decide what to reorder? Which is harder, running out of popular items or holding slow stock? Treat these as questions, not diagnosed Swecha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SANKET is a software platform for demand forecasting and stock planning. It estimates demand from sales history. Purchase recommendations also need reliable stock, incoming quantities and supplier assumptions. Approval records a decision internally and does not place a supplier order. Source: backend/app/services/decision_engine.py and docs/audit/2026-10-26-fashion-remediation/REPORT.md.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QuickBill remains their billing system. Ask which version they use and which exports it provides. No verified direct QuickBill synchronization exists in this trial. We may need to prepare the exported file before import. Source: backend/app/services/integrations/file_import.py.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 12 to 24 months of sales if available, but inspect coverage before selecting products. This is a preferred request, not a guarantee that every product needs that much history. Check returns, discounts, duplicates, branch identifiers and whether quantities are daily or period totals. Customer names and phone numbers are unnecessary for this first stock-planning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10 to 15 minutes provisionally, depending on file readiness and model response. Explain the forecast range. Check that stock and lead time inputs are real before discussing purchase quantities. If data is incomplete, show the supported historical analysis and agree the missing fields. Use clearly labelled synthetic data only to explain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forecast generated today is a prediction, not proof of accuracy. Hold out a later historical period before forecasting. Compare the model and a simple recent-sales baseline on the same products and dates. Report omissions and explain errors in plain language. Local synthetic results do not establish performance for Swecha. Source: docs/audit/2026-10-26-fashion-remediation/REPORT.md.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 scope after inspecting their data. Agree baseline forecast error, review time and recommendation usefulness. Measure stockouts or stock investment only with adequate operational records and time. No savings or accuracy percentage is promised. Ask who can authorize a pilot and who will own exports.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Could we start with a sample sales report and current stock report for one category? We will confirm what the data supports, demonstrate the workflow and agree whether a measured pilot is worthwhile.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cfd9b6b0fc4a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aa39b8122545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232bb6571041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044a086c2c4b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fd941ee8db43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b72e73d1ce43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62E0CF-AF2C-4A6B-BD2E-7A3286DAB2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3979FB-F9CA-4130-B9DA-FE01B386C2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C1A082-FEBD-459D-B7D7-A7BE52718B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815371-5C56-4172-ABE3-32C1FEC82D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4342D2-0E71-482D-BE4D-917FB1D1DBE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46452A-5EE8-4726-96E2-4B16C406D0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8477DB-F01B-46AE-BA9A-4D607A266B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E794F36-9F90-432C-AB7E-021C5022CD5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0C7940-A5AE-4A11-9765-6BEA237F78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9611BD-1DAB-423E-AE49-F5B8DD7B66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c93ae2131140e8" /><Relationship Type="http://schemas.openxmlformats.org/officeDocument/2006/relationships/slideLayout" Target="/ppt/slideLayouts/slideLayout1.xml" Id="R6867d202fb39456f" /><Relationship Type="http://schemas.openxmlformats.org/officeDocument/2006/relationships/slideLayout" Target="/ppt/slideLayouts/slideLayout2.xml" Id="R611b2055f7b34029" /><Relationship Type="http://schemas.openxmlformats.org/officeDocument/2006/relationships/slideLayout" Target="/ppt/slideLayouts/slideLayout3.xml" Id="Rfd63d3c4b0594161" /><Relationship Type="http://schemas.openxmlformats.org/officeDocument/2006/relationships/slideLayout" Target="/ppt/slideLayouts/slideLayout4.xml" Id="R621024132c3b4981" /><Relationship Type="http://schemas.openxmlformats.org/officeDocument/2006/relationships/slideLayout" Target="/ppt/slideLayouts/slideLayout5.xml" Id="Rae4cbe9273cd4901" /><Relationship Type="http://schemas.openxmlformats.org/officeDocument/2006/relationships/slideLayout" Target="/ppt/slideLayouts/slideLayout6.xml" Id="Raad14334805846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67d202fb39456f"/>
    <p:sldLayoutId xmlns:r="http://schemas.openxmlformats.org/officeDocument/2006/relationships" id="2147483650" r:id="R611b2055f7b34029"/>
    <p:sldLayoutId xmlns:r="http://schemas.openxmlformats.org/officeDocument/2006/relationships" id="2147483651" r:id="Rfd63d3c4b0594161"/>
    <p:sldLayoutId xmlns:r="http://schemas.openxmlformats.org/officeDocument/2006/relationships" id="2147483652" r:id="R621024132c3b4981"/>
    <p:sldLayoutId xmlns:r="http://schemas.openxmlformats.org/officeDocument/2006/relationships" id="2147483653" r:id="Rae4cbe9273cd4901"/>
    <p:sldLayoutId xmlns:r="http://schemas.openxmlformats.org/officeDocument/2006/relationships" id="2147483654" r:id="Raad14334805846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239f30317b456f" /><Relationship Type="http://schemas.openxmlformats.org/officeDocument/2006/relationships/notesSlide" Target="/ppt/notesSlides/notesSlide1.xml" Id="R530b33f482ea45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18010af9f994738" /><Relationship Type="http://schemas.openxmlformats.org/officeDocument/2006/relationships/notesSlide" Target="/ppt/notesSlides/notesSlide2.xml" Id="Rf04cb5726a384d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c2fbed52fc4fa7" /><Relationship Type="http://schemas.openxmlformats.org/officeDocument/2006/relationships/notesSlide" Target="/ppt/notesSlides/notesSlide3.xml" Id="R5171fb36e94644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d43a33f73f48ac" /><Relationship Type="http://schemas.openxmlformats.org/officeDocument/2006/relationships/notesSlide" Target="/ppt/notesSlides/notesSlide4.xml" Id="R833eb4ded42e44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b53107039a4ee9" /><Relationship Type="http://schemas.openxmlformats.org/officeDocument/2006/relationships/notesSlide" Target="/ppt/notesSlides/notesSlide5.xml" Id="Rc1ec02f7a3d84b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51e27c9bd84bd6" /><Relationship Type="http://schemas.openxmlformats.org/officeDocument/2006/relationships/notesSlide" Target="/ppt/notesSlides/notesSlide6.xml" Id="R8a3333507f454b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5a6e9d21d44821" /><Relationship Type="http://schemas.openxmlformats.org/officeDocument/2006/relationships/notesSlide" Target="/ppt/notesSlides/notesSlide7.xml" Id="Rc90b0f2fc6bb41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37fd55fc9f4287" /><Relationship Type="http://schemas.openxmlformats.org/officeDocument/2006/relationships/notesSlide" Target="/ppt/notesSlides/notesSlide8.xml" Id="R81a73c03364a46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dba7859611b4c56" /><Relationship Type="http://schemas.openxmlformats.org/officeDocument/2006/relationships/notesSlide" Target="/ppt/notesSlides/notesSlide9.xml" Id="R15645f1ee9964ead" /></Relationships>
</file>

<file path=ppt/slides/slide1.xml><?xml version="1.0" encoding="utf-8"?>
<p:sld xmlns:p="http://schemas.openxmlformats.org/presentationml/2006/main">
  <p:cSld>
    <p:bg>
      <p:bgPr>
        <a:solidFill xmlns:a="http://schemas.openxmlformats.org/drawingml/2006/main">
          <a:srgbClr val="10282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2D89495-63F5-412C-96B8-7ABB674F7A11}"/>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B9D9B5"/>
                </a:solidFill>
              </a:defRPr>
            </a:defPPr>
            <a:lvl1pPr>
              <a:defRPr sz="1800" b="1">
                <a:solidFill>
                  <a:srgbClr val="B9D9B5"/>
                </a:solidFill>
              </a:defRPr>
            </a:lvl1pPr>
            <a:lvl2pPr>
              <a:defRPr sz="1800" b="1">
                <a:solidFill>
                  <a:srgbClr val="B9D9B5"/>
                </a:solidFill>
              </a:defRPr>
            </a:lvl2pPr>
            <a:lvl3pPr>
              <a:defRPr sz="1800" b="1">
                <a:solidFill>
                  <a:srgbClr val="B9D9B5"/>
                </a:solidFill>
              </a:defRPr>
            </a:lvl3pPr>
            <a:lvl4pPr>
              <a:defRPr sz="1800" b="1">
                <a:solidFill>
                  <a:srgbClr val="B9D9B5"/>
                </a:solidFill>
              </a:defRPr>
            </a:lvl4pPr>
            <a:lvl5pPr>
              <a:defRPr sz="1800" b="1">
                <a:solidFill>
                  <a:srgbClr val="B9D9B5"/>
                </a:solidFill>
              </a:defRPr>
            </a:lvl5pPr>
            <a:lvl6pPr>
              <a:defRPr sz="1800" b="1">
                <a:solidFill>
                  <a:srgbClr val="B9D9B5"/>
                </a:solidFill>
              </a:defRPr>
            </a:lvl6pPr>
            <a:lvl7pPr>
              <a:defRPr sz="1800" b="1">
                <a:solidFill>
                  <a:srgbClr val="B9D9B5"/>
                </a:solidFill>
              </a:defRPr>
            </a:lvl7pPr>
            <a:lvl8pPr>
              <a:defRPr sz="1800" b="1">
                <a:solidFill>
                  <a:srgbClr val="B9D9B5"/>
                </a:solidFill>
              </a:defRPr>
            </a:lvl8pPr>
            <a:lvl9pPr>
              <a:defRPr sz="1800" b="1">
                <a:solidFill>
                  <a:srgbClr val="B9D9B5"/>
                </a:solidFill>
              </a:defRPr>
            </a:lvl9pPr>
          </a:lstStyle>
          <a:p xmlns:a="http://schemas.openxmlformats.org/drawingml/2006/main">
            <a:pPr>
              <a:defRPr sz="1800" b="1">
                <a:solidFill>
                  <a:srgbClr val="B9D9B5"/>
                </a:solidFill>
              </a:defRPr>
            </a:pPr>
            <a:r>
              <a:rPr sz="1800" b="1">
                <a:solidFill>
                  <a:srgbClr val="B9D9B5"/>
                </a:solidFill>
              </a:rPr>
              <a:t>SANKET</a:t>
            </a:r>
          </a:p>
        </p:txBody>
      </p:sp>
      <p:sp>
        <p:nvSpPr>
          <p:cNvPr id="3" name="">
            <a:extLst xmlns:a="http://schemas.openxmlformats.org/drawingml/2006/main">
              <a:ext uri="{FF2B5EF4-FFF2-40B4-BE49-F238E27FC236}">
                <a16:creationId xmlns:a16="http://schemas.microsoft.com/office/drawing/2014/main" id="{C4A66A05-32ED-46A2-86D2-72D6C3160BD2}"/>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6F3EB"/>
                </a:solidFill>
              </a:defRPr>
            </a:defPPr>
            <a:lvl1pPr>
              <a:defRPr sz="4800" b="1">
                <a:solidFill>
                  <a:srgbClr val="F6F3EB"/>
                </a:solidFill>
              </a:defRPr>
            </a:lvl1pPr>
            <a:lvl2pPr>
              <a:defRPr sz="4800" b="1">
                <a:solidFill>
                  <a:srgbClr val="F6F3EB"/>
                </a:solidFill>
              </a:defRPr>
            </a:lvl2pPr>
            <a:lvl3pPr>
              <a:defRPr sz="4800" b="1">
                <a:solidFill>
                  <a:srgbClr val="F6F3EB"/>
                </a:solidFill>
              </a:defRPr>
            </a:lvl3pPr>
            <a:lvl4pPr>
              <a:defRPr sz="4800" b="1">
                <a:solidFill>
                  <a:srgbClr val="F6F3EB"/>
                </a:solidFill>
              </a:defRPr>
            </a:lvl4pPr>
            <a:lvl5pPr>
              <a:defRPr sz="4800" b="1">
                <a:solidFill>
                  <a:srgbClr val="F6F3EB"/>
                </a:solidFill>
              </a:defRPr>
            </a:lvl5pPr>
            <a:lvl6pPr>
              <a:defRPr sz="4800" b="1">
                <a:solidFill>
                  <a:srgbClr val="F6F3EB"/>
                </a:solidFill>
              </a:defRPr>
            </a:lvl6pPr>
            <a:lvl7pPr>
              <a:defRPr sz="4800" b="1">
                <a:solidFill>
                  <a:srgbClr val="F6F3EB"/>
                </a:solidFill>
              </a:defRPr>
            </a:lvl7pPr>
            <a:lvl8pPr>
              <a:defRPr sz="4800" b="1">
                <a:solidFill>
                  <a:srgbClr val="F6F3EB"/>
                </a:solidFill>
              </a:defRPr>
            </a:lvl8pPr>
            <a:lvl9pPr>
              <a:defRPr sz="4800" b="1">
                <a:solidFill>
                  <a:srgbClr val="F6F3EB"/>
                </a:solidFill>
              </a:defRPr>
            </a:lvl9pPr>
          </a:lstStyle>
          <a:p xmlns:a="http://schemas.openxmlformats.org/drawingml/2006/main">
            <a:pPr>
              <a:defRPr sz="4800" b="1">
                <a:solidFill>
                  <a:srgbClr val="F6F3EB"/>
                </a:solidFill>
              </a:defRPr>
            </a:pPr>
            <a:r>
              <a:rPr sz="4800" b="1">
                <a:solidFill>
                  <a:srgbClr val="F6F3EB"/>
                </a:solidFill>
              </a:rPr>
              <a:t>Stock planning for Swecha Fashions</a:t>
            </a:r>
          </a:p>
        </p:txBody>
      </p:sp>
      <p:sp>
        <p:nvSpPr>
          <p:cNvPr id="4" name="">
            <a:extLst xmlns:a="http://schemas.openxmlformats.org/drawingml/2006/main">
              <a:ext uri="{FF2B5EF4-FFF2-40B4-BE49-F238E27FC236}">
                <a16:creationId xmlns:a16="http://schemas.microsoft.com/office/drawing/2014/main" id="{462220E3-BD96-4AC2-A6B1-496F0057734C}"/>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6F3EB"/>
                </a:solidFill>
              </a:defRPr>
            </a:defPPr>
            <a:lvl1pPr>
              <a:defRPr sz="2250" b="0">
                <a:solidFill>
                  <a:srgbClr val="F6F3EB"/>
                </a:solidFill>
              </a:defRPr>
            </a:lvl1pPr>
            <a:lvl2pPr>
              <a:defRPr sz="2250" b="0">
                <a:solidFill>
                  <a:srgbClr val="F6F3EB"/>
                </a:solidFill>
              </a:defRPr>
            </a:lvl2pPr>
            <a:lvl3pPr>
              <a:defRPr sz="2250" b="0">
                <a:solidFill>
                  <a:srgbClr val="F6F3EB"/>
                </a:solidFill>
              </a:defRPr>
            </a:lvl3pPr>
            <a:lvl4pPr>
              <a:defRPr sz="2250" b="0">
                <a:solidFill>
                  <a:srgbClr val="F6F3EB"/>
                </a:solidFill>
              </a:defRPr>
            </a:lvl4pPr>
            <a:lvl5pPr>
              <a:defRPr sz="2250" b="0">
                <a:solidFill>
                  <a:srgbClr val="F6F3EB"/>
                </a:solidFill>
              </a:defRPr>
            </a:lvl5pPr>
            <a:lvl6pPr>
              <a:defRPr sz="2250" b="0">
                <a:solidFill>
                  <a:srgbClr val="F6F3EB"/>
                </a:solidFill>
              </a:defRPr>
            </a:lvl6pPr>
            <a:lvl7pPr>
              <a:defRPr sz="2250" b="0">
                <a:solidFill>
                  <a:srgbClr val="F6F3EB"/>
                </a:solidFill>
              </a:defRPr>
            </a:lvl7pPr>
            <a:lvl8pPr>
              <a:defRPr sz="2250" b="0">
                <a:solidFill>
                  <a:srgbClr val="F6F3EB"/>
                </a:solidFill>
              </a:defRPr>
            </a:lvl8pPr>
            <a:lvl9pPr>
              <a:defRPr sz="2250" b="0">
                <a:solidFill>
                  <a:srgbClr val="F6F3EB"/>
                </a:solidFill>
              </a:defRPr>
            </a:lvl9pPr>
          </a:lstStyle>
          <a:p xmlns:a="http://schemas.openxmlformats.org/drawingml/2006/main">
            <a:pPr>
              <a:defRPr sz="2250" b="0">
                <a:solidFill>
                  <a:srgbClr val="F6F3EB"/>
                </a:solidFill>
              </a:defRPr>
            </a:pPr>
            <a:r>
              <a:rPr sz="2250" b="0">
                <a:solidFill>
                  <a:srgbClr val="F6F3EB"/>
                </a:solidFill>
              </a:rPr>
              <a:t>A QuickBill data trial</a:t>
            </a:r>
          </a:p>
          <a:p xmlns:a="http://schemas.openxmlformats.org/drawingml/2006/main">
            <a:pPr>
              <a:defRPr sz="2250" b="0">
                <a:solidFill>
                  <a:srgbClr val="F6F3EB"/>
                </a:solidFill>
              </a:defRPr>
            </a:pPr>
            <a:r>
              <a:rPr sz="2250" b="0">
                <a:solidFill>
                  <a:srgbClr val="F6F3EB"/>
                </a:solidFill>
              </a:rPr>
              <a:t>27 October 2026</a:t>
            </a:r>
          </a:p>
        </p:txBody>
      </p:sp>
      <p:sp>
        <p:nvSpPr>
          <p:cNvPr id="5" name="">
            <a:extLst xmlns:a="http://schemas.openxmlformats.org/drawingml/2006/main">
              <a:ext uri="{FF2B5EF4-FFF2-40B4-BE49-F238E27FC236}">
                <a16:creationId xmlns:a16="http://schemas.microsoft.com/office/drawing/2014/main" id="{F83C95C0-36BD-4910-817E-A5069B591AEB}"/>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9D9B5"/>
                </a:solidFill>
              </a:defRPr>
            </a:defPPr>
            <a:lvl1pPr>
              <a:defRPr sz="1350" b="0">
                <a:solidFill>
                  <a:srgbClr val="B9D9B5"/>
                </a:solidFill>
              </a:defRPr>
            </a:lvl1pPr>
            <a:lvl2pPr>
              <a:defRPr sz="1350" b="0">
                <a:solidFill>
                  <a:srgbClr val="B9D9B5"/>
                </a:solidFill>
              </a:defRPr>
            </a:lvl2pPr>
            <a:lvl3pPr>
              <a:defRPr sz="1350" b="0">
                <a:solidFill>
                  <a:srgbClr val="B9D9B5"/>
                </a:solidFill>
              </a:defRPr>
            </a:lvl3pPr>
            <a:lvl4pPr>
              <a:defRPr sz="1350" b="0">
                <a:solidFill>
                  <a:srgbClr val="B9D9B5"/>
                </a:solidFill>
              </a:defRPr>
            </a:lvl4pPr>
            <a:lvl5pPr>
              <a:defRPr sz="1350" b="0">
                <a:solidFill>
                  <a:srgbClr val="B9D9B5"/>
                </a:solidFill>
              </a:defRPr>
            </a:lvl5pPr>
            <a:lvl6pPr>
              <a:defRPr sz="1350" b="0">
                <a:solidFill>
                  <a:srgbClr val="B9D9B5"/>
                </a:solidFill>
              </a:defRPr>
            </a:lvl6pPr>
            <a:lvl7pPr>
              <a:defRPr sz="1350" b="0">
                <a:solidFill>
                  <a:srgbClr val="B9D9B5"/>
                </a:solidFill>
              </a:defRPr>
            </a:lvl7pPr>
            <a:lvl8pPr>
              <a:defRPr sz="1350" b="0">
                <a:solidFill>
                  <a:srgbClr val="B9D9B5"/>
                </a:solidFill>
              </a:defRPr>
            </a:lvl8pPr>
            <a:lvl9pPr>
              <a:defRPr sz="1350" b="0">
                <a:solidFill>
                  <a:srgbClr val="B9D9B5"/>
                </a:solidFill>
              </a:defRPr>
            </a:lvl9pPr>
          </a:lstStyle>
          <a:p xmlns:a="http://schemas.openxmlformats.org/drawingml/2006/main">
            <a:pPr>
              <a:defRPr sz="1350" b="0">
                <a:solidFill>
                  <a:srgbClr val="B9D9B5"/>
                </a:solidFill>
              </a:defRPr>
            </a:pPr>
            <a:r>
              <a:rPr sz="1350" b="0">
                <a:solidFill>
                  <a:srgbClr val="B9D9B5"/>
                </a:solidFill>
              </a:rPr>
              <a:t>01</a:t>
            </a:r>
          </a:p>
        </p:txBody>
      </p:sp>
    </p:spTree>
    <p:extLst>
      <p:ext uri="{BB962C8B-B14F-4D97-AF65-F5344CB8AC3E}">
        <p14:creationId xmlns:p14="http://schemas.microsoft.com/office/powerpoint/2010/main" val="35035221"/>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589847-B738-42D9-83C0-37EFDF24FE37}"/>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3745F"/>
                </a:solidFill>
              </a:defRPr>
            </a:defPPr>
            <a:lvl1pPr>
              <a:defRPr sz="1800" b="1">
                <a:solidFill>
                  <a:srgbClr val="53745F"/>
                </a:solidFill>
              </a:defRPr>
            </a:lvl1pPr>
            <a:lvl2pPr>
              <a:defRPr sz="1800" b="1">
                <a:solidFill>
                  <a:srgbClr val="53745F"/>
                </a:solidFill>
              </a:defRPr>
            </a:lvl2pPr>
            <a:lvl3pPr>
              <a:defRPr sz="1800" b="1">
                <a:solidFill>
                  <a:srgbClr val="53745F"/>
                </a:solidFill>
              </a:defRPr>
            </a:lvl3pPr>
            <a:lvl4pPr>
              <a:defRPr sz="1800" b="1">
                <a:solidFill>
                  <a:srgbClr val="53745F"/>
                </a:solidFill>
              </a:defRPr>
            </a:lvl4pPr>
            <a:lvl5pPr>
              <a:defRPr sz="1800" b="1">
                <a:solidFill>
                  <a:srgbClr val="53745F"/>
                </a:solidFill>
              </a:defRPr>
            </a:lvl5pPr>
            <a:lvl6pPr>
              <a:defRPr sz="1800" b="1">
                <a:solidFill>
                  <a:srgbClr val="53745F"/>
                </a:solidFill>
              </a:defRPr>
            </a:lvl6pPr>
            <a:lvl7pPr>
              <a:defRPr sz="1800" b="1">
                <a:solidFill>
                  <a:srgbClr val="53745F"/>
                </a:solidFill>
              </a:defRPr>
            </a:lvl7pPr>
            <a:lvl8pPr>
              <a:defRPr sz="1800" b="1">
                <a:solidFill>
                  <a:srgbClr val="53745F"/>
                </a:solidFill>
              </a:defRPr>
            </a:lvl8pPr>
            <a:lvl9pPr>
              <a:defRPr sz="1800" b="1">
                <a:solidFill>
                  <a:srgbClr val="53745F"/>
                </a:solidFill>
              </a:defRPr>
            </a:lvl9pPr>
          </a:lstStyle>
          <a:p xmlns:a="http://schemas.openxmlformats.org/drawingml/2006/main">
            <a:pPr>
              <a:defRPr sz="1800" b="1">
                <a:solidFill>
                  <a:srgbClr val="53745F"/>
                </a:solidFill>
              </a:defRPr>
            </a:pPr>
            <a:r>
              <a:rPr sz="1800" b="1">
                <a:solidFill>
                  <a:srgbClr val="53745F"/>
                </a:solidFill>
              </a:rPr>
              <a:t>The buying decision</a:t>
            </a:r>
          </a:p>
        </p:txBody>
      </p:sp>
      <p:sp>
        <p:nvSpPr>
          <p:cNvPr id="3" name="">
            <a:extLst xmlns:a="http://schemas.openxmlformats.org/drawingml/2006/main">
              <a:ext uri="{FF2B5EF4-FFF2-40B4-BE49-F238E27FC236}">
                <a16:creationId xmlns:a16="http://schemas.microsoft.com/office/drawing/2014/main" id="{BD1FB397-DD57-4196-BC9A-25DA90A1CFC6}"/>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822"/>
                </a:solidFill>
              </a:defRPr>
            </a:defPPr>
            <a:lvl1pPr>
              <a:defRPr sz="3900" b="1">
                <a:solidFill>
                  <a:srgbClr val="102822"/>
                </a:solidFill>
              </a:defRPr>
            </a:lvl1pPr>
            <a:lvl2pPr>
              <a:defRPr sz="3900" b="1">
                <a:solidFill>
                  <a:srgbClr val="102822"/>
                </a:solidFill>
              </a:defRPr>
            </a:lvl2pPr>
            <a:lvl3pPr>
              <a:defRPr sz="3900" b="1">
                <a:solidFill>
                  <a:srgbClr val="102822"/>
                </a:solidFill>
              </a:defRPr>
            </a:lvl3pPr>
            <a:lvl4pPr>
              <a:defRPr sz="3900" b="1">
                <a:solidFill>
                  <a:srgbClr val="102822"/>
                </a:solidFill>
              </a:defRPr>
            </a:lvl4pPr>
            <a:lvl5pPr>
              <a:defRPr sz="3900" b="1">
                <a:solidFill>
                  <a:srgbClr val="102822"/>
                </a:solidFill>
              </a:defRPr>
            </a:lvl5pPr>
            <a:lvl6pPr>
              <a:defRPr sz="3900" b="1">
                <a:solidFill>
                  <a:srgbClr val="102822"/>
                </a:solidFill>
              </a:defRPr>
            </a:lvl6pPr>
            <a:lvl7pPr>
              <a:defRPr sz="3900" b="1">
                <a:solidFill>
                  <a:srgbClr val="102822"/>
                </a:solidFill>
              </a:defRPr>
            </a:lvl7pPr>
            <a:lvl8pPr>
              <a:defRPr sz="3900" b="1">
                <a:solidFill>
                  <a:srgbClr val="102822"/>
                </a:solidFill>
              </a:defRPr>
            </a:lvl8pPr>
            <a:lvl9pPr>
              <a:defRPr sz="3900" b="1">
                <a:solidFill>
                  <a:srgbClr val="102822"/>
                </a:solidFill>
              </a:defRPr>
            </a:lvl9pPr>
          </a:lstStyle>
          <a:p xmlns:a="http://schemas.openxmlformats.org/drawingml/2006/main">
            <a:pPr>
              <a:defRPr sz="3900" b="1">
                <a:solidFill>
                  <a:srgbClr val="102822"/>
                </a:solidFill>
              </a:defRPr>
            </a:pPr>
            <a:r>
              <a:rPr sz="3900" b="1">
                <a:solidFill>
                  <a:srgbClr val="102822"/>
                </a:solidFill>
              </a:rPr>
              <a:t>What should the next purchase contain?</a:t>
            </a:r>
          </a:p>
        </p:txBody>
      </p:sp>
      <p:sp>
        <p:nvSpPr>
          <p:cNvPr id="4" name="">
            <a:extLst xmlns:a="http://schemas.openxmlformats.org/drawingml/2006/main">
              <a:ext uri="{FF2B5EF4-FFF2-40B4-BE49-F238E27FC236}">
                <a16:creationId xmlns:a16="http://schemas.microsoft.com/office/drawing/2014/main" id="{39E32F11-39F4-43FB-95C7-A8B85D590C45}"/>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822"/>
                </a:solidFill>
              </a:defRPr>
            </a:defPPr>
            <a:lvl1pPr>
              <a:defRPr sz="2250" b="0">
                <a:solidFill>
                  <a:srgbClr val="102822"/>
                </a:solidFill>
              </a:defRPr>
            </a:lvl1pPr>
            <a:lvl2pPr>
              <a:defRPr sz="2250" b="0">
                <a:solidFill>
                  <a:srgbClr val="102822"/>
                </a:solidFill>
              </a:defRPr>
            </a:lvl2pPr>
            <a:lvl3pPr>
              <a:defRPr sz="2250" b="0">
                <a:solidFill>
                  <a:srgbClr val="102822"/>
                </a:solidFill>
              </a:defRPr>
            </a:lvl3pPr>
            <a:lvl4pPr>
              <a:defRPr sz="2250" b="0">
                <a:solidFill>
                  <a:srgbClr val="102822"/>
                </a:solidFill>
              </a:defRPr>
            </a:lvl4pPr>
            <a:lvl5pPr>
              <a:defRPr sz="2250" b="0">
                <a:solidFill>
                  <a:srgbClr val="102822"/>
                </a:solidFill>
              </a:defRPr>
            </a:lvl5pPr>
            <a:lvl6pPr>
              <a:defRPr sz="2250" b="0">
                <a:solidFill>
                  <a:srgbClr val="102822"/>
                </a:solidFill>
              </a:defRPr>
            </a:lvl6pPr>
            <a:lvl7pPr>
              <a:defRPr sz="2250" b="0">
                <a:solidFill>
                  <a:srgbClr val="102822"/>
                </a:solidFill>
              </a:defRPr>
            </a:lvl7pPr>
            <a:lvl8pPr>
              <a:defRPr sz="2250" b="0">
                <a:solidFill>
                  <a:srgbClr val="102822"/>
                </a:solidFill>
              </a:defRPr>
            </a:lvl8pPr>
            <a:lvl9pPr>
              <a:defRPr sz="2250" b="0">
                <a:solidFill>
                  <a:srgbClr val="102822"/>
                </a:solidFill>
              </a:defRPr>
            </a:lvl9pPr>
          </a:lstStyle>
          <a:p xmlns:a="http://schemas.openxmlformats.org/drawingml/2006/main">
            <a:pPr>
              <a:defRPr sz="2250" b="0">
                <a:solidFill>
                  <a:srgbClr val="102822"/>
                </a:solidFill>
              </a:defRPr>
            </a:pPr>
            <a:r>
              <a:rPr sz="2250" b="0">
                <a:solidFill>
                  <a:srgbClr val="102822"/>
                </a:solidFill>
              </a:rPr>
              <a:t>Which products and sizes need attention?</a:t>
            </a:r>
          </a:p>
          <a:p xmlns:a="http://schemas.openxmlformats.org/drawingml/2006/main">
            <a:pPr>
              <a:defRPr sz="2250" b="0">
                <a:solidFill>
                  <a:srgbClr val="102822"/>
                </a:solidFill>
              </a:defRPr>
            </a:pPr>
            <a:r>
              <a:rPr sz="2250" b="0">
                <a:solidFill>
                  <a:srgbClr val="102822"/>
                </a:solidFill>
              </a:rPr>
              <a:t>How much stock is already available?</a:t>
            </a:r>
          </a:p>
          <a:p xmlns:a="http://schemas.openxmlformats.org/drawingml/2006/main">
            <a:pPr>
              <a:defRPr sz="2250" b="0">
                <a:solidFill>
                  <a:srgbClr val="102822"/>
                </a:solidFill>
              </a:defRPr>
            </a:pPr>
            <a:r>
              <a:rPr sz="2250" b="0">
                <a:solidFill>
                  <a:srgbClr val="102822"/>
                </a:solidFill>
              </a:rPr>
              <a:t>How long does replenishment take?</a:t>
            </a:r>
          </a:p>
        </p:txBody>
      </p:sp>
      <p:sp>
        <p:nvSpPr>
          <p:cNvPr id="5" name="">
            <a:extLst xmlns:a="http://schemas.openxmlformats.org/drawingml/2006/main">
              <a:ext uri="{FF2B5EF4-FFF2-40B4-BE49-F238E27FC236}">
                <a16:creationId xmlns:a16="http://schemas.microsoft.com/office/drawing/2014/main" id="{148AEFB2-A0EF-405E-B966-06172A084F61}"/>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745F"/>
                </a:solidFill>
              </a:defRPr>
            </a:defPPr>
            <a:lvl1pPr>
              <a:defRPr sz="1350" b="0">
                <a:solidFill>
                  <a:srgbClr val="53745F"/>
                </a:solidFill>
              </a:defRPr>
            </a:lvl1pPr>
            <a:lvl2pPr>
              <a:defRPr sz="1350" b="0">
                <a:solidFill>
                  <a:srgbClr val="53745F"/>
                </a:solidFill>
              </a:defRPr>
            </a:lvl2pPr>
            <a:lvl3pPr>
              <a:defRPr sz="1350" b="0">
                <a:solidFill>
                  <a:srgbClr val="53745F"/>
                </a:solidFill>
              </a:defRPr>
            </a:lvl3pPr>
            <a:lvl4pPr>
              <a:defRPr sz="1350" b="0">
                <a:solidFill>
                  <a:srgbClr val="53745F"/>
                </a:solidFill>
              </a:defRPr>
            </a:lvl4pPr>
            <a:lvl5pPr>
              <a:defRPr sz="1350" b="0">
                <a:solidFill>
                  <a:srgbClr val="53745F"/>
                </a:solidFill>
              </a:defRPr>
            </a:lvl5pPr>
            <a:lvl6pPr>
              <a:defRPr sz="1350" b="0">
                <a:solidFill>
                  <a:srgbClr val="53745F"/>
                </a:solidFill>
              </a:defRPr>
            </a:lvl6pPr>
            <a:lvl7pPr>
              <a:defRPr sz="1350" b="0">
                <a:solidFill>
                  <a:srgbClr val="53745F"/>
                </a:solidFill>
              </a:defRPr>
            </a:lvl7pPr>
            <a:lvl8pPr>
              <a:defRPr sz="1350" b="0">
                <a:solidFill>
                  <a:srgbClr val="53745F"/>
                </a:solidFill>
              </a:defRPr>
            </a:lvl8pPr>
            <a:lvl9pPr>
              <a:defRPr sz="1350" b="0">
                <a:solidFill>
                  <a:srgbClr val="53745F"/>
                </a:solidFill>
              </a:defRPr>
            </a:lvl9pPr>
          </a:lstStyle>
          <a:p xmlns:a="http://schemas.openxmlformats.org/drawingml/2006/main">
            <a:pPr>
              <a:defRPr sz="1350" b="0">
                <a:solidFill>
                  <a:srgbClr val="53745F"/>
                </a:solidFill>
              </a:defRPr>
            </a:pPr>
            <a:r>
              <a:rPr sz="1350" b="0">
                <a:solidFill>
                  <a:srgbClr val="53745F"/>
                </a:solidFill>
              </a:rPr>
              <a:t>02</a:t>
            </a:r>
          </a:p>
        </p:txBody>
      </p:sp>
    </p:spTree>
    <p:extLst>
      <p:ext uri="{BB962C8B-B14F-4D97-AF65-F5344CB8AC3E}">
        <p14:creationId xmlns:p14="http://schemas.microsoft.com/office/powerpoint/2010/main" val="705791493"/>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53E713-C3B4-48BC-BAAE-FB5783FC6D88}"/>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3745F"/>
                </a:solidFill>
              </a:defRPr>
            </a:defPPr>
            <a:lvl1pPr>
              <a:defRPr sz="1800" b="1">
                <a:solidFill>
                  <a:srgbClr val="53745F"/>
                </a:solidFill>
              </a:defRPr>
            </a:lvl1pPr>
            <a:lvl2pPr>
              <a:defRPr sz="1800" b="1">
                <a:solidFill>
                  <a:srgbClr val="53745F"/>
                </a:solidFill>
              </a:defRPr>
            </a:lvl2pPr>
            <a:lvl3pPr>
              <a:defRPr sz="1800" b="1">
                <a:solidFill>
                  <a:srgbClr val="53745F"/>
                </a:solidFill>
              </a:defRPr>
            </a:lvl3pPr>
            <a:lvl4pPr>
              <a:defRPr sz="1800" b="1">
                <a:solidFill>
                  <a:srgbClr val="53745F"/>
                </a:solidFill>
              </a:defRPr>
            </a:lvl4pPr>
            <a:lvl5pPr>
              <a:defRPr sz="1800" b="1">
                <a:solidFill>
                  <a:srgbClr val="53745F"/>
                </a:solidFill>
              </a:defRPr>
            </a:lvl5pPr>
            <a:lvl6pPr>
              <a:defRPr sz="1800" b="1">
                <a:solidFill>
                  <a:srgbClr val="53745F"/>
                </a:solidFill>
              </a:defRPr>
            </a:lvl6pPr>
            <a:lvl7pPr>
              <a:defRPr sz="1800" b="1">
                <a:solidFill>
                  <a:srgbClr val="53745F"/>
                </a:solidFill>
              </a:defRPr>
            </a:lvl7pPr>
            <a:lvl8pPr>
              <a:defRPr sz="1800" b="1">
                <a:solidFill>
                  <a:srgbClr val="53745F"/>
                </a:solidFill>
              </a:defRPr>
            </a:lvl8pPr>
            <a:lvl9pPr>
              <a:defRPr sz="1800" b="1">
                <a:solidFill>
                  <a:srgbClr val="53745F"/>
                </a:solidFill>
              </a:defRPr>
            </a:lvl9pPr>
          </a:lstStyle>
          <a:p xmlns:a="http://schemas.openxmlformats.org/drawingml/2006/main">
            <a:pPr>
              <a:defRPr sz="1800" b="1">
                <a:solidFill>
                  <a:srgbClr val="53745F"/>
                </a:solidFill>
              </a:defRPr>
            </a:pPr>
            <a:r>
              <a:rPr sz="1800" b="1">
                <a:solidFill>
                  <a:srgbClr val="53745F"/>
                </a:solidFill>
              </a:rPr>
              <a:t>What SANKET does</a:t>
            </a:r>
          </a:p>
        </p:txBody>
      </p:sp>
      <p:sp>
        <p:nvSpPr>
          <p:cNvPr id="3" name="">
            <a:extLst xmlns:a="http://schemas.openxmlformats.org/drawingml/2006/main">
              <a:ext uri="{FF2B5EF4-FFF2-40B4-BE49-F238E27FC236}">
                <a16:creationId xmlns:a16="http://schemas.microsoft.com/office/drawing/2014/main" id="{6D76CD5B-4686-4B5C-A502-B96D2B4C267E}"/>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822"/>
                </a:solidFill>
              </a:defRPr>
            </a:defPPr>
            <a:lvl1pPr>
              <a:defRPr sz="3900" b="1">
                <a:solidFill>
                  <a:srgbClr val="102822"/>
                </a:solidFill>
              </a:defRPr>
            </a:lvl1pPr>
            <a:lvl2pPr>
              <a:defRPr sz="3900" b="1">
                <a:solidFill>
                  <a:srgbClr val="102822"/>
                </a:solidFill>
              </a:defRPr>
            </a:lvl2pPr>
            <a:lvl3pPr>
              <a:defRPr sz="3900" b="1">
                <a:solidFill>
                  <a:srgbClr val="102822"/>
                </a:solidFill>
              </a:defRPr>
            </a:lvl3pPr>
            <a:lvl4pPr>
              <a:defRPr sz="3900" b="1">
                <a:solidFill>
                  <a:srgbClr val="102822"/>
                </a:solidFill>
              </a:defRPr>
            </a:lvl4pPr>
            <a:lvl5pPr>
              <a:defRPr sz="3900" b="1">
                <a:solidFill>
                  <a:srgbClr val="102822"/>
                </a:solidFill>
              </a:defRPr>
            </a:lvl5pPr>
            <a:lvl6pPr>
              <a:defRPr sz="3900" b="1">
                <a:solidFill>
                  <a:srgbClr val="102822"/>
                </a:solidFill>
              </a:defRPr>
            </a:lvl6pPr>
            <a:lvl7pPr>
              <a:defRPr sz="3900" b="1">
                <a:solidFill>
                  <a:srgbClr val="102822"/>
                </a:solidFill>
              </a:defRPr>
            </a:lvl7pPr>
            <a:lvl8pPr>
              <a:defRPr sz="3900" b="1">
                <a:solidFill>
                  <a:srgbClr val="102822"/>
                </a:solidFill>
              </a:defRPr>
            </a:lvl8pPr>
            <a:lvl9pPr>
              <a:defRPr sz="3900" b="1">
                <a:solidFill>
                  <a:srgbClr val="102822"/>
                </a:solidFill>
              </a:defRPr>
            </a:lvl9pPr>
          </a:lstStyle>
          <a:p xmlns:a="http://schemas.openxmlformats.org/drawingml/2006/main">
            <a:pPr>
              <a:defRPr sz="3900" b="1">
                <a:solidFill>
                  <a:srgbClr val="102822"/>
                </a:solidFill>
              </a:defRPr>
            </a:pPr>
            <a:r>
              <a:rPr sz="3900" b="1">
                <a:solidFill>
                  <a:srgbClr val="102822"/>
                </a:solidFill>
              </a:rPr>
              <a:t>Demand forecasts with stock context</a:t>
            </a:r>
          </a:p>
        </p:txBody>
      </p:sp>
      <p:sp>
        <p:nvSpPr>
          <p:cNvPr id="4" name="">
            <a:extLst xmlns:a="http://schemas.openxmlformats.org/drawingml/2006/main">
              <a:ext uri="{FF2B5EF4-FFF2-40B4-BE49-F238E27FC236}">
                <a16:creationId xmlns:a16="http://schemas.microsoft.com/office/drawing/2014/main" id="{4BCF1073-DC79-472B-A53A-A2EE6F93E33D}"/>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822"/>
                </a:solidFill>
              </a:defRPr>
            </a:defPPr>
            <a:lvl1pPr>
              <a:defRPr sz="2250" b="0">
                <a:solidFill>
                  <a:srgbClr val="102822"/>
                </a:solidFill>
              </a:defRPr>
            </a:lvl1pPr>
            <a:lvl2pPr>
              <a:defRPr sz="2250" b="0">
                <a:solidFill>
                  <a:srgbClr val="102822"/>
                </a:solidFill>
              </a:defRPr>
            </a:lvl2pPr>
            <a:lvl3pPr>
              <a:defRPr sz="2250" b="0">
                <a:solidFill>
                  <a:srgbClr val="102822"/>
                </a:solidFill>
              </a:defRPr>
            </a:lvl3pPr>
            <a:lvl4pPr>
              <a:defRPr sz="2250" b="0">
                <a:solidFill>
                  <a:srgbClr val="102822"/>
                </a:solidFill>
              </a:defRPr>
            </a:lvl4pPr>
            <a:lvl5pPr>
              <a:defRPr sz="2250" b="0">
                <a:solidFill>
                  <a:srgbClr val="102822"/>
                </a:solidFill>
              </a:defRPr>
            </a:lvl5pPr>
            <a:lvl6pPr>
              <a:defRPr sz="2250" b="0">
                <a:solidFill>
                  <a:srgbClr val="102822"/>
                </a:solidFill>
              </a:defRPr>
            </a:lvl6pPr>
            <a:lvl7pPr>
              <a:defRPr sz="2250" b="0">
                <a:solidFill>
                  <a:srgbClr val="102822"/>
                </a:solidFill>
              </a:defRPr>
            </a:lvl7pPr>
            <a:lvl8pPr>
              <a:defRPr sz="2250" b="0">
                <a:solidFill>
                  <a:srgbClr val="102822"/>
                </a:solidFill>
              </a:defRPr>
            </a:lvl8pPr>
            <a:lvl9pPr>
              <a:defRPr sz="2250" b="0">
                <a:solidFill>
                  <a:srgbClr val="102822"/>
                </a:solidFill>
              </a:defRPr>
            </a:lvl9pPr>
          </a:lstStyle>
          <a:p xmlns:a="http://schemas.openxmlformats.org/drawingml/2006/main">
            <a:pPr>
              <a:defRPr sz="2250" b="0">
                <a:solidFill>
                  <a:srgbClr val="102822"/>
                </a:solidFill>
              </a:defRPr>
            </a:pPr>
            <a:r>
              <a:rPr sz="2250" b="0">
                <a:solidFill>
                  <a:srgbClr val="102822"/>
                </a:solidFill>
              </a:rPr>
              <a:t>Historical sales support demand estimates.</a:t>
            </a:r>
          </a:p>
          <a:p xmlns:a="http://schemas.openxmlformats.org/drawingml/2006/main">
            <a:pPr>
              <a:defRPr sz="2250" b="0">
                <a:solidFill>
                  <a:srgbClr val="102822"/>
                </a:solidFill>
              </a:defRPr>
            </a:pPr>
            <a:r>
              <a:rPr sz="2250" b="0">
                <a:solidFill>
                  <a:srgbClr val="102822"/>
                </a:solidFill>
              </a:rPr>
              <a:t>Stock and supplier inputs support recommendations.</a:t>
            </a:r>
          </a:p>
          <a:p xmlns:a="http://schemas.openxmlformats.org/drawingml/2006/main">
            <a:pPr>
              <a:defRPr sz="2250" b="0">
                <a:solidFill>
                  <a:srgbClr val="102822"/>
                </a:solidFill>
              </a:defRPr>
            </a:pPr>
            <a:r>
              <a:rPr sz="2250" b="0">
                <a:solidFill>
                  <a:srgbClr val="102822"/>
                </a:solidFill>
              </a:rPr>
              <a:t>Your team reviews the suggested action.</a:t>
            </a:r>
          </a:p>
        </p:txBody>
      </p:sp>
      <p:sp>
        <p:nvSpPr>
          <p:cNvPr id="5" name="">
            <a:extLst xmlns:a="http://schemas.openxmlformats.org/drawingml/2006/main">
              <a:ext uri="{FF2B5EF4-FFF2-40B4-BE49-F238E27FC236}">
                <a16:creationId xmlns:a16="http://schemas.microsoft.com/office/drawing/2014/main" id="{1B6B68A7-F2AA-4CB7-8EAC-8892B260135D}"/>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745F"/>
                </a:solidFill>
              </a:defRPr>
            </a:defPPr>
            <a:lvl1pPr>
              <a:defRPr sz="1350" b="0">
                <a:solidFill>
                  <a:srgbClr val="53745F"/>
                </a:solidFill>
              </a:defRPr>
            </a:lvl1pPr>
            <a:lvl2pPr>
              <a:defRPr sz="1350" b="0">
                <a:solidFill>
                  <a:srgbClr val="53745F"/>
                </a:solidFill>
              </a:defRPr>
            </a:lvl2pPr>
            <a:lvl3pPr>
              <a:defRPr sz="1350" b="0">
                <a:solidFill>
                  <a:srgbClr val="53745F"/>
                </a:solidFill>
              </a:defRPr>
            </a:lvl3pPr>
            <a:lvl4pPr>
              <a:defRPr sz="1350" b="0">
                <a:solidFill>
                  <a:srgbClr val="53745F"/>
                </a:solidFill>
              </a:defRPr>
            </a:lvl4pPr>
            <a:lvl5pPr>
              <a:defRPr sz="1350" b="0">
                <a:solidFill>
                  <a:srgbClr val="53745F"/>
                </a:solidFill>
              </a:defRPr>
            </a:lvl5pPr>
            <a:lvl6pPr>
              <a:defRPr sz="1350" b="0">
                <a:solidFill>
                  <a:srgbClr val="53745F"/>
                </a:solidFill>
              </a:defRPr>
            </a:lvl6pPr>
            <a:lvl7pPr>
              <a:defRPr sz="1350" b="0">
                <a:solidFill>
                  <a:srgbClr val="53745F"/>
                </a:solidFill>
              </a:defRPr>
            </a:lvl7pPr>
            <a:lvl8pPr>
              <a:defRPr sz="1350" b="0">
                <a:solidFill>
                  <a:srgbClr val="53745F"/>
                </a:solidFill>
              </a:defRPr>
            </a:lvl8pPr>
            <a:lvl9pPr>
              <a:defRPr sz="1350" b="0">
                <a:solidFill>
                  <a:srgbClr val="53745F"/>
                </a:solidFill>
              </a:defRPr>
            </a:lvl9pPr>
          </a:lstStyle>
          <a:p xmlns:a="http://schemas.openxmlformats.org/drawingml/2006/main">
            <a:pPr>
              <a:defRPr sz="1350" b="0">
                <a:solidFill>
                  <a:srgbClr val="53745F"/>
                </a:solidFill>
              </a:defRPr>
            </a:pPr>
            <a:r>
              <a:rPr sz="1350" b="0">
                <a:solidFill>
                  <a:srgbClr val="53745F"/>
                </a:solidFill>
              </a:rPr>
              <a:t>03</a:t>
            </a:r>
          </a:p>
        </p:txBody>
      </p:sp>
    </p:spTree>
    <p:extLst>
      <p:ext uri="{BB962C8B-B14F-4D97-AF65-F5344CB8AC3E}">
        <p14:creationId xmlns:p14="http://schemas.microsoft.com/office/powerpoint/2010/main" val="1769773954"/>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E8BDC35-9212-4FB1-9BA0-25BBC4DD775A}"/>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3745F"/>
                </a:solidFill>
              </a:defRPr>
            </a:defPPr>
            <a:lvl1pPr>
              <a:defRPr sz="1800" b="1">
                <a:solidFill>
                  <a:srgbClr val="53745F"/>
                </a:solidFill>
              </a:defRPr>
            </a:lvl1pPr>
            <a:lvl2pPr>
              <a:defRPr sz="1800" b="1">
                <a:solidFill>
                  <a:srgbClr val="53745F"/>
                </a:solidFill>
              </a:defRPr>
            </a:lvl2pPr>
            <a:lvl3pPr>
              <a:defRPr sz="1800" b="1">
                <a:solidFill>
                  <a:srgbClr val="53745F"/>
                </a:solidFill>
              </a:defRPr>
            </a:lvl3pPr>
            <a:lvl4pPr>
              <a:defRPr sz="1800" b="1">
                <a:solidFill>
                  <a:srgbClr val="53745F"/>
                </a:solidFill>
              </a:defRPr>
            </a:lvl4pPr>
            <a:lvl5pPr>
              <a:defRPr sz="1800" b="1">
                <a:solidFill>
                  <a:srgbClr val="53745F"/>
                </a:solidFill>
              </a:defRPr>
            </a:lvl5pPr>
            <a:lvl6pPr>
              <a:defRPr sz="1800" b="1">
                <a:solidFill>
                  <a:srgbClr val="53745F"/>
                </a:solidFill>
              </a:defRPr>
            </a:lvl6pPr>
            <a:lvl7pPr>
              <a:defRPr sz="1800" b="1">
                <a:solidFill>
                  <a:srgbClr val="53745F"/>
                </a:solidFill>
              </a:defRPr>
            </a:lvl7pPr>
            <a:lvl8pPr>
              <a:defRPr sz="1800" b="1">
                <a:solidFill>
                  <a:srgbClr val="53745F"/>
                </a:solidFill>
              </a:defRPr>
            </a:lvl8pPr>
            <a:lvl9pPr>
              <a:defRPr sz="1800" b="1">
                <a:solidFill>
                  <a:srgbClr val="53745F"/>
                </a:solidFill>
              </a:defRPr>
            </a:lvl9pPr>
          </a:lstStyle>
          <a:p xmlns:a="http://schemas.openxmlformats.org/drawingml/2006/main">
            <a:pPr>
              <a:defRPr sz="1800" b="1">
                <a:solidFill>
                  <a:srgbClr val="53745F"/>
                </a:solidFill>
              </a:defRPr>
            </a:pPr>
            <a:r>
              <a:rPr sz="1800" b="1">
                <a:solidFill>
                  <a:srgbClr val="53745F"/>
                </a:solidFill>
              </a:rPr>
              <a:t>Working with QuickBill</a:t>
            </a:r>
          </a:p>
        </p:txBody>
      </p:sp>
      <p:sp>
        <p:nvSpPr>
          <p:cNvPr id="3" name="">
            <a:extLst xmlns:a="http://schemas.openxmlformats.org/drawingml/2006/main">
              <a:ext uri="{FF2B5EF4-FFF2-40B4-BE49-F238E27FC236}">
                <a16:creationId xmlns:a16="http://schemas.microsoft.com/office/drawing/2014/main" id="{BF36E741-8E3E-46E4-BCF7-E1F2756661D3}"/>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822"/>
                </a:solidFill>
              </a:defRPr>
            </a:defPPr>
            <a:lvl1pPr>
              <a:defRPr sz="3900" b="1">
                <a:solidFill>
                  <a:srgbClr val="102822"/>
                </a:solidFill>
              </a:defRPr>
            </a:lvl1pPr>
            <a:lvl2pPr>
              <a:defRPr sz="3900" b="1">
                <a:solidFill>
                  <a:srgbClr val="102822"/>
                </a:solidFill>
              </a:defRPr>
            </a:lvl2pPr>
            <a:lvl3pPr>
              <a:defRPr sz="3900" b="1">
                <a:solidFill>
                  <a:srgbClr val="102822"/>
                </a:solidFill>
              </a:defRPr>
            </a:lvl3pPr>
            <a:lvl4pPr>
              <a:defRPr sz="3900" b="1">
                <a:solidFill>
                  <a:srgbClr val="102822"/>
                </a:solidFill>
              </a:defRPr>
            </a:lvl4pPr>
            <a:lvl5pPr>
              <a:defRPr sz="3900" b="1">
                <a:solidFill>
                  <a:srgbClr val="102822"/>
                </a:solidFill>
              </a:defRPr>
            </a:lvl5pPr>
            <a:lvl6pPr>
              <a:defRPr sz="3900" b="1">
                <a:solidFill>
                  <a:srgbClr val="102822"/>
                </a:solidFill>
              </a:defRPr>
            </a:lvl6pPr>
            <a:lvl7pPr>
              <a:defRPr sz="3900" b="1">
                <a:solidFill>
                  <a:srgbClr val="102822"/>
                </a:solidFill>
              </a:defRPr>
            </a:lvl7pPr>
            <a:lvl8pPr>
              <a:defRPr sz="3900" b="1">
                <a:solidFill>
                  <a:srgbClr val="102822"/>
                </a:solidFill>
              </a:defRPr>
            </a:lvl8pPr>
            <a:lvl9pPr>
              <a:defRPr sz="3900" b="1">
                <a:solidFill>
                  <a:srgbClr val="102822"/>
                </a:solidFill>
              </a:defRPr>
            </a:lvl9pPr>
          </a:lstStyle>
          <a:p xmlns:a="http://schemas.openxmlformats.org/drawingml/2006/main">
            <a:pPr>
              <a:defRPr sz="3900" b="1">
                <a:solidFill>
                  <a:srgbClr val="102822"/>
                </a:solidFill>
              </a:defRPr>
            </a:pPr>
            <a:r>
              <a:rPr sz="3900" b="1">
                <a:solidFill>
                  <a:srgbClr val="102822"/>
                </a:solidFill>
              </a:rPr>
              <a:t>A report export is the starting point</a:t>
            </a:r>
          </a:p>
        </p:txBody>
      </p:sp>
      <p:sp>
        <p:nvSpPr>
          <p:cNvPr id="4" name="">
            <a:extLst xmlns:a="http://schemas.openxmlformats.org/drawingml/2006/main">
              <a:ext uri="{FF2B5EF4-FFF2-40B4-BE49-F238E27FC236}">
                <a16:creationId xmlns:a16="http://schemas.microsoft.com/office/drawing/2014/main" id="{4685F981-31AA-4F5A-8438-830A91E706BC}"/>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822"/>
                </a:solidFill>
              </a:defRPr>
            </a:defPPr>
            <a:lvl1pPr>
              <a:defRPr sz="2250" b="0">
                <a:solidFill>
                  <a:srgbClr val="102822"/>
                </a:solidFill>
              </a:defRPr>
            </a:lvl1pPr>
            <a:lvl2pPr>
              <a:defRPr sz="2250" b="0">
                <a:solidFill>
                  <a:srgbClr val="102822"/>
                </a:solidFill>
              </a:defRPr>
            </a:lvl2pPr>
            <a:lvl3pPr>
              <a:defRPr sz="2250" b="0">
                <a:solidFill>
                  <a:srgbClr val="102822"/>
                </a:solidFill>
              </a:defRPr>
            </a:lvl3pPr>
            <a:lvl4pPr>
              <a:defRPr sz="2250" b="0">
                <a:solidFill>
                  <a:srgbClr val="102822"/>
                </a:solidFill>
              </a:defRPr>
            </a:lvl4pPr>
            <a:lvl5pPr>
              <a:defRPr sz="2250" b="0">
                <a:solidFill>
                  <a:srgbClr val="102822"/>
                </a:solidFill>
              </a:defRPr>
            </a:lvl5pPr>
            <a:lvl6pPr>
              <a:defRPr sz="2250" b="0">
                <a:solidFill>
                  <a:srgbClr val="102822"/>
                </a:solidFill>
              </a:defRPr>
            </a:lvl6pPr>
            <a:lvl7pPr>
              <a:defRPr sz="2250" b="0">
                <a:solidFill>
                  <a:srgbClr val="102822"/>
                </a:solidFill>
              </a:defRPr>
            </a:lvl7pPr>
            <a:lvl8pPr>
              <a:defRPr sz="2250" b="0">
                <a:solidFill>
                  <a:srgbClr val="102822"/>
                </a:solidFill>
              </a:defRPr>
            </a:lvl8pPr>
            <a:lvl9pPr>
              <a:defRPr sz="2250" b="0">
                <a:solidFill>
                  <a:srgbClr val="102822"/>
                </a:solidFill>
              </a:defRPr>
            </a:lvl9pPr>
          </a:lstStyle>
          <a:p xmlns:a="http://schemas.openxmlformats.org/drawingml/2006/main">
            <a:pPr>
              <a:defRPr sz="2250" b="0">
                <a:solidFill>
                  <a:srgbClr val="102822"/>
                </a:solidFill>
              </a:defRPr>
            </a:pPr>
            <a:r>
              <a:rPr sz="2250" b="0">
                <a:solidFill>
                  <a:srgbClr val="102822"/>
                </a:solidFill>
              </a:rPr>
              <a:t>You share a sales and stock export.</a:t>
            </a:r>
          </a:p>
          <a:p xmlns:a="http://schemas.openxmlformats.org/drawingml/2006/main">
            <a:pPr>
              <a:defRPr sz="2250" b="0">
                <a:solidFill>
                  <a:srgbClr val="102822"/>
                </a:solidFill>
              </a:defRPr>
            </a:pPr>
            <a:r>
              <a:rPr sz="2250" b="0">
                <a:solidFill>
                  <a:srgbClr val="102822"/>
                </a:solidFill>
              </a:rPr>
              <a:t>We check columns, dates and product codes.</a:t>
            </a:r>
          </a:p>
          <a:p xmlns:a="http://schemas.openxmlformats.org/drawingml/2006/main">
            <a:pPr>
              <a:defRPr sz="2250" b="0">
                <a:solidFill>
                  <a:srgbClr val="102822"/>
                </a:solidFill>
              </a:defRPr>
            </a:pPr>
            <a:r>
              <a:rPr sz="2250" b="0">
                <a:solidFill>
                  <a:srgbClr val="102822"/>
                </a:solidFill>
              </a:rPr>
              <a:t>We map suitable CSV or Excel files into SANKET.</a:t>
            </a:r>
          </a:p>
        </p:txBody>
      </p:sp>
      <p:sp>
        <p:nvSpPr>
          <p:cNvPr id="5" name="">
            <a:extLst xmlns:a="http://schemas.openxmlformats.org/drawingml/2006/main">
              <a:ext uri="{FF2B5EF4-FFF2-40B4-BE49-F238E27FC236}">
                <a16:creationId xmlns:a16="http://schemas.microsoft.com/office/drawing/2014/main" id="{EA894B4B-6A2F-4556-B684-D8A0E3014F92}"/>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745F"/>
                </a:solidFill>
              </a:defRPr>
            </a:defPPr>
            <a:lvl1pPr>
              <a:defRPr sz="1350" b="0">
                <a:solidFill>
                  <a:srgbClr val="53745F"/>
                </a:solidFill>
              </a:defRPr>
            </a:lvl1pPr>
            <a:lvl2pPr>
              <a:defRPr sz="1350" b="0">
                <a:solidFill>
                  <a:srgbClr val="53745F"/>
                </a:solidFill>
              </a:defRPr>
            </a:lvl2pPr>
            <a:lvl3pPr>
              <a:defRPr sz="1350" b="0">
                <a:solidFill>
                  <a:srgbClr val="53745F"/>
                </a:solidFill>
              </a:defRPr>
            </a:lvl3pPr>
            <a:lvl4pPr>
              <a:defRPr sz="1350" b="0">
                <a:solidFill>
                  <a:srgbClr val="53745F"/>
                </a:solidFill>
              </a:defRPr>
            </a:lvl4pPr>
            <a:lvl5pPr>
              <a:defRPr sz="1350" b="0">
                <a:solidFill>
                  <a:srgbClr val="53745F"/>
                </a:solidFill>
              </a:defRPr>
            </a:lvl5pPr>
            <a:lvl6pPr>
              <a:defRPr sz="1350" b="0">
                <a:solidFill>
                  <a:srgbClr val="53745F"/>
                </a:solidFill>
              </a:defRPr>
            </a:lvl6pPr>
            <a:lvl7pPr>
              <a:defRPr sz="1350" b="0">
                <a:solidFill>
                  <a:srgbClr val="53745F"/>
                </a:solidFill>
              </a:defRPr>
            </a:lvl7pPr>
            <a:lvl8pPr>
              <a:defRPr sz="1350" b="0">
                <a:solidFill>
                  <a:srgbClr val="53745F"/>
                </a:solidFill>
              </a:defRPr>
            </a:lvl8pPr>
            <a:lvl9pPr>
              <a:defRPr sz="1350" b="0">
                <a:solidFill>
                  <a:srgbClr val="53745F"/>
                </a:solidFill>
              </a:defRPr>
            </a:lvl9pPr>
          </a:lstStyle>
          <a:p xmlns:a="http://schemas.openxmlformats.org/drawingml/2006/main">
            <a:pPr>
              <a:defRPr sz="1350" b="0">
                <a:solidFill>
                  <a:srgbClr val="53745F"/>
                </a:solidFill>
              </a:defRPr>
            </a:pPr>
            <a:r>
              <a:rPr sz="1350" b="0">
                <a:solidFill>
                  <a:srgbClr val="53745F"/>
                </a:solidFill>
              </a:rPr>
              <a:t>04</a:t>
            </a:r>
          </a:p>
        </p:txBody>
      </p:sp>
    </p:spTree>
    <p:extLst>
      <p:ext uri="{BB962C8B-B14F-4D97-AF65-F5344CB8AC3E}">
        <p14:creationId xmlns:p14="http://schemas.microsoft.com/office/powerpoint/2010/main" val="548221383"/>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BC8D55-0238-4533-84A2-5585036CCA48}"/>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3745F"/>
                </a:solidFill>
              </a:defRPr>
            </a:defPPr>
            <a:lvl1pPr>
              <a:defRPr sz="1800" b="1">
                <a:solidFill>
                  <a:srgbClr val="53745F"/>
                </a:solidFill>
              </a:defRPr>
            </a:lvl1pPr>
            <a:lvl2pPr>
              <a:defRPr sz="1800" b="1">
                <a:solidFill>
                  <a:srgbClr val="53745F"/>
                </a:solidFill>
              </a:defRPr>
            </a:lvl2pPr>
            <a:lvl3pPr>
              <a:defRPr sz="1800" b="1">
                <a:solidFill>
                  <a:srgbClr val="53745F"/>
                </a:solidFill>
              </a:defRPr>
            </a:lvl3pPr>
            <a:lvl4pPr>
              <a:defRPr sz="1800" b="1">
                <a:solidFill>
                  <a:srgbClr val="53745F"/>
                </a:solidFill>
              </a:defRPr>
            </a:lvl4pPr>
            <a:lvl5pPr>
              <a:defRPr sz="1800" b="1">
                <a:solidFill>
                  <a:srgbClr val="53745F"/>
                </a:solidFill>
              </a:defRPr>
            </a:lvl5pPr>
            <a:lvl6pPr>
              <a:defRPr sz="1800" b="1">
                <a:solidFill>
                  <a:srgbClr val="53745F"/>
                </a:solidFill>
              </a:defRPr>
            </a:lvl6pPr>
            <a:lvl7pPr>
              <a:defRPr sz="1800" b="1">
                <a:solidFill>
                  <a:srgbClr val="53745F"/>
                </a:solidFill>
              </a:defRPr>
            </a:lvl7pPr>
            <a:lvl8pPr>
              <a:defRPr sz="1800" b="1">
                <a:solidFill>
                  <a:srgbClr val="53745F"/>
                </a:solidFill>
              </a:defRPr>
            </a:lvl8pPr>
            <a:lvl9pPr>
              <a:defRPr sz="1800" b="1">
                <a:solidFill>
                  <a:srgbClr val="53745F"/>
                </a:solidFill>
              </a:defRPr>
            </a:lvl9pPr>
          </a:lstStyle>
          <a:p xmlns:a="http://schemas.openxmlformats.org/drawingml/2006/main">
            <a:pPr>
              <a:defRPr sz="1800" b="1">
                <a:solidFill>
                  <a:srgbClr val="53745F"/>
                </a:solidFill>
              </a:defRPr>
            </a:pPr>
            <a:r>
              <a:rPr sz="1800" b="1">
                <a:solidFill>
                  <a:srgbClr val="53745F"/>
                </a:solidFill>
              </a:rPr>
              <a:t>Data for the trial</a:t>
            </a:r>
          </a:p>
        </p:txBody>
      </p:sp>
      <p:sp>
        <p:nvSpPr>
          <p:cNvPr id="3" name="">
            <a:extLst xmlns:a="http://schemas.openxmlformats.org/drawingml/2006/main">
              <a:ext uri="{FF2B5EF4-FFF2-40B4-BE49-F238E27FC236}">
                <a16:creationId xmlns:a16="http://schemas.microsoft.com/office/drawing/2014/main" id="{F0E916D3-0551-4CA0-B7F9-E335AEC4DEC5}"/>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822"/>
                </a:solidFill>
              </a:defRPr>
            </a:defPPr>
            <a:lvl1pPr>
              <a:defRPr sz="3900" b="1">
                <a:solidFill>
                  <a:srgbClr val="102822"/>
                </a:solidFill>
              </a:defRPr>
            </a:lvl1pPr>
            <a:lvl2pPr>
              <a:defRPr sz="3900" b="1">
                <a:solidFill>
                  <a:srgbClr val="102822"/>
                </a:solidFill>
              </a:defRPr>
            </a:lvl2pPr>
            <a:lvl3pPr>
              <a:defRPr sz="3900" b="1">
                <a:solidFill>
                  <a:srgbClr val="102822"/>
                </a:solidFill>
              </a:defRPr>
            </a:lvl3pPr>
            <a:lvl4pPr>
              <a:defRPr sz="3900" b="1">
                <a:solidFill>
                  <a:srgbClr val="102822"/>
                </a:solidFill>
              </a:defRPr>
            </a:lvl4pPr>
            <a:lvl5pPr>
              <a:defRPr sz="3900" b="1">
                <a:solidFill>
                  <a:srgbClr val="102822"/>
                </a:solidFill>
              </a:defRPr>
            </a:lvl5pPr>
            <a:lvl6pPr>
              <a:defRPr sz="3900" b="1">
                <a:solidFill>
                  <a:srgbClr val="102822"/>
                </a:solidFill>
              </a:defRPr>
            </a:lvl6pPr>
            <a:lvl7pPr>
              <a:defRPr sz="3900" b="1">
                <a:solidFill>
                  <a:srgbClr val="102822"/>
                </a:solidFill>
              </a:defRPr>
            </a:lvl7pPr>
            <a:lvl8pPr>
              <a:defRPr sz="3900" b="1">
                <a:solidFill>
                  <a:srgbClr val="102822"/>
                </a:solidFill>
              </a:defRPr>
            </a:lvl8pPr>
            <a:lvl9pPr>
              <a:defRPr sz="3900" b="1">
                <a:solidFill>
                  <a:srgbClr val="102822"/>
                </a:solidFill>
              </a:defRPr>
            </a:lvl9pPr>
          </a:lstStyle>
          <a:p xmlns:a="http://schemas.openxmlformats.org/drawingml/2006/main">
            <a:pPr>
              <a:defRPr sz="3900" b="1">
                <a:solidFill>
                  <a:srgbClr val="102822"/>
                </a:solidFill>
              </a:defRPr>
            </a:pPr>
            <a:r>
              <a:rPr sz="3900" b="1">
                <a:solidFill>
                  <a:srgbClr val="102822"/>
                </a:solidFill>
              </a:rPr>
              <a:t>Product-level history makes the trial useful</a:t>
            </a:r>
          </a:p>
        </p:txBody>
      </p:sp>
      <p:sp>
        <p:nvSpPr>
          <p:cNvPr id="4" name="">
            <a:extLst xmlns:a="http://schemas.openxmlformats.org/drawingml/2006/main">
              <a:ext uri="{FF2B5EF4-FFF2-40B4-BE49-F238E27FC236}">
                <a16:creationId xmlns:a16="http://schemas.microsoft.com/office/drawing/2014/main" id="{40860AF6-8502-46B3-83CB-B91B06EF1387}"/>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822"/>
                </a:solidFill>
              </a:defRPr>
            </a:defPPr>
            <a:lvl1pPr>
              <a:defRPr sz="2250" b="0">
                <a:solidFill>
                  <a:srgbClr val="102822"/>
                </a:solidFill>
              </a:defRPr>
            </a:lvl1pPr>
            <a:lvl2pPr>
              <a:defRPr sz="2250" b="0">
                <a:solidFill>
                  <a:srgbClr val="102822"/>
                </a:solidFill>
              </a:defRPr>
            </a:lvl2pPr>
            <a:lvl3pPr>
              <a:defRPr sz="2250" b="0">
                <a:solidFill>
                  <a:srgbClr val="102822"/>
                </a:solidFill>
              </a:defRPr>
            </a:lvl3pPr>
            <a:lvl4pPr>
              <a:defRPr sz="2250" b="0">
                <a:solidFill>
                  <a:srgbClr val="102822"/>
                </a:solidFill>
              </a:defRPr>
            </a:lvl4pPr>
            <a:lvl5pPr>
              <a:defRPr sz="2250" b="0">
                <a:solidFill>
                  <a:srgbClr val="102822"/>
                </a:solidFill>
              </a:defRPr>
            </a:lvl5pPr>
            <a:lvl6pPr>
              <a:defRPr sz="2250" b="0">
                <a:solidFill>
                  <a:srgbClr val="102822"/>
                </a:solidFill>
              </a:defRPr>
            </a:lvl6pPr>
            <a:lvl7pPr>
              <a:defRPr sz="2250" b="0">
                <a:solidFill>
                  <a:srgbClr val="102822"/>
                </a:solidFill>
              </a:defRPr>
            </a:lvl7pPr>
            <a:lvl8pPr>
              <a:defRPr sz="2250" b="0">
                <a:solidFill>
                  <a:srgbClr val="102822"/>
                </a:solidFill>
              </a:defRPr>
            </a:lvl8pPr>
            <a:lvl9pPr>
              <a:defRPr sz="2250" b="0">
                <a:solidFill>
                  <a:srgbClr val="102822"/>
                </a:solidFill>
              </a:defRPr>
            </a:lvl9pPr>
          </a:lstStyle>
          <a:p xmlns:a="http://schemas.openxmlformats.org/drawingml/2006/main">
            <a:pPr>
              <a:defRPr sz="2250" b="0">
                <a:solidFill>
                  <a:srgbClr val="102822"/>
                </a:solidFill>
              </a:defRPr>
            </a:pPr>
            <a:r>
              <a:rPr sz="2250" b="0">
                <a:solidFill>
                  <a:srgbClr val="102822"/>
                </a:solidFill>
              </a:rPr>
              <a:t>Sales: date, product code and quantity</a:t>
            </a:r>
          </a:p>
          <a:p xmlns:a="http://schemas.openxmlformats.org/drawingml/2006/main">
            <a:pPr>
              <a:defRPr sz="2250" b="0">
                <a:solidFill>
                  <a:srgbClr val="102822"/>
                </a:solidFill>
              </a:defRPr>
            </a:pPr>
            <a:r>
              <a:rPr sz="2250" b="0">
                <a:solidFill>
                  <a:srgbClr val="102822"/>
                </a:solidFill>
              </a:rPr>
              <a:t>Variants: size and colour where recorded</a:t>
            </a:r>
          </a:p>
          <a:p xmlns:a="http://schemas.openxmlformats.org/drawingml/2006/main">
            <a:pPr>
              <a:defRPr sz="2250" b="0">
                <a:solidFill>
                  <a:srgbClr val="102822"/>
                </a:solidFill>
              </a:defRPr>
            </a:pPr>
            <a:r>
              <a:rPr sz="2250" b="0">
                <a:solidFill>
                  <a:srgbClr val="102822"/>
                </a:solidFill>
              </a:rPr>
              <a:t>Stock: current units and branch</a:t>
            </a:r>
          </a:p>
          <a:p xmlns:a="http://schemas.openxmlformats.org/drawingml/2006/main">
            <a:pPr>
              <a:defRPr sz="2250" b="0">
                <a:solidFill>
                  <a:srgbClr val="102822"/>
                </a:solidFill>
              </a:defRPr>
            </a:pPr>
            <a:r>
              <a:rPr sz="2250" b="0">
                <a:solidFill>
                  <a:srgbClr val="102822"/>
                </a:solidFill>
              </a:rPr>
              <a:t>Planning: lead time, incoming units and cost</a:t>
            </a:r>
          </a:p>
        </p:txBody>
      </p:sp>
      <p:sp>
        <p:nvSpPr>
          <p:cNvPr id="5" name="">
            <a:extLst xmlns:a="http://schemas.openxmlformats.org/drawingml/2006/main">
              <a:ext uri="{FF2B5EF4-FFF2-40B4-BE49-F238E27FC236}">
                <a16:creationId xmlns:a16="http://schemas.microsoft.com/office/drawing/2014/main" id="{CE01E765-EDD1-4414-A492-C81D6C1C603C}"/>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745F"/>
                </a:solidFill>
              </a:defRPr>
            </a:defPPr>
            <a:lvl1pPr>
              <a:defRPr sz="1350" b="0">
                <a:solidFill>
                  <a:srgbClr val="53745F"/>
                </a:solidFill>
              </a:defRPr>
            </a:lvl1pPr>
            <a:lvl2pPr>
              <a:defRPr sz="1350" b="0">
                <a:solidFill>
                  <a:srgbClr val="53745F"/>
                </a:solidFill>
              </a:defRPr>
            </a:lvl2pPr>
            <a:lvl3pPr>
              <a:defRPr sz="1350" b="0">
                <a:solidFill>
                  <a:srgbClr val="53745F"/>
                </a:solidFill>
              </a:defRPr>
            </a:lvl3pPr>
            <a:lvl4pPr>
              <a:defRPr sz="1350" b="0">
                <a:solidFill>
                  <a:srgbClr val="53745F"/>
                </a:solidFill>
              </a:defRPr>
            </a:lvl4pPr>
            <a:lvl5pPr>
              <a:defRPr sz="1350" b="0">
                <a:solidFill>
                  <a:srgbClr val="53745F"/>
                </a:solidFill>
              </a:defRPr>
            </a:lvl5pPr>
            <a:lvl6pPr>
              <a:defRPr sz="1350" b="0">
                <a:solidFill>
                  <a:srgbClr val="53745F"/>
                </a:solidFill>
              </a:defRPr>
            </a:lvl6pPr>
            <a:lvl7pPr>
              <a:defRPr sz="1350" b="0">
                <a:solidFill>
                  <a:srgbClr val="53745F"/>
                </a:solidFill>
              </a:defRPr>
            </a:lvl7pPr>
            <a:lvl8pPr>
              <a:defRPr sz="1350" b="0">
                <a:solidFill>
                  <a:srgbClr val="53745F"/>
                </a:solidFill>
              </a:defRPr>
            </a:lvl8pPr>
            <a:lvl9pPr>
              <a:defRPr sz="1350" b="0">
                <a:solidFill>
                  <a:srgbClr val="53745F"/>
                </a:solidFill>
              </a:defRPr>
            </a:lvl9pPr>
          </a:lstStyle>
          <a:p xmlns:a="http://schemas.openxmlformats.org/drawingml/2006/main">
            <a:pPr>
              <a:defRPr sz="1350" b="0">
                <a:solidFill>
                  <a:srgbClr val="53745F"/>
                </a:solidFill>
              </a:defRPr>
            </a:pPr>
            <a:r>
              <a:rPr sz="1350" b="0">
                <a:solidFill>
                  <a:srgbClr val="53745F"/>
                </a:solidFill>
              </a:rPr>
              <a:t>05</a:t>
            </a:r>
          </a:p>
        </p:txBody>
      </p:sp>
    </p:spTree>
    <p:extLst>
      <p:ext uri="{BB962C8B-B14F-4D97-AF65-F5344CB8AC3E}">
        <p14:creationId xmlns:p14="http://schemas.microsoft.com/office/powerpoint/2010/main" val="803478988"/>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876F14F-C71B-41E3-A15C-C88EFD3FE35D}"/>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3745F"/>
                </a:solidFill>
              </a:defRPr>
            </a:defPPr>
            <a:lvl1pPr>
              <a:defRPr sz="1800" b="1">
                <a:solidFill>
                  <a:srgbClr val="53745F"/>
                </a:solidFill>
              </a:defRPr>
            </a:lvl1pPr>
            <a:lvl2pPr>
              <a:defRPr sz="1800" b="1">
                <a:solidFill>
                  <a:srgbClr val="53745F"/>
                </a:solidFill>
              </a:defRPr>
            </a:lvl2pPr>
            <a:lvl3pPr>
              <a:defRPr sz="1800" b="1">
                <a:solidFill>
                  <a:srgbClr val="53745F"/>
                </a:solidFill>
              </a:defRPr>
            </a:lvl3pPr>
            <a:lvl4pPr>
              <a:defRPr sz="1800" b="1">
                <a:solidFill>
                  <a:srgbClr val="53745F"/>
                </a:solidFill>
              </a:defRPr>
            </a:lvl4pPr>
            <a:lvl5pPr>
              <a:defRPr sz="1800" b="1">
                <a:solidFill>
                  <a:srgbClr val="53745F"/>
                </a:solidFill>
              </a:defRPr>
            </a:lvl5pPr>
            <a:lvl6pPr>
              <a:defRPr sz="1800" b="1">
                <a:solidFill>
                  <a:srgbClr val="53745F"/>
                </a:solidFill>
              </a:defRPr>
            </a:lvl6pPr>
            <a:lvl7pPr>
              <a:defRPr sz="1800" b="1">
                <a:solidFill>
                  <a:srgbClr val="53745F"/>
                </a:solidFill>
              </a:defRPr>
            </a:lvl7pPr>
            <a:lvl8pPr>
              <a:defRPr sz="1800" b="1">
                <a:solidFill>
                  <a:srgbClr val="53745F"/>
                </a:solidFill>
              </a:defRPr>
            </a:lvl8pPr>
            <a:lvl9pPr>
              <a:defRPr sz="1800" b="1">
                <a:solidFill>
                  <a:srgbClr val="53745F"/>
                </a:solidFill>
              </a:defRPr>
            </a:lvl9pPr>
          </a:lstStyle>
          <a:p xmlns:a="http://schemas.openxmlformats.org/drawingml/2006/main">
            <a:pPr>
              <a:defRPr sz="1800" b="1">
                <a:solidFill>
                  <a:srgbClr val="53745F"/>
                </a:solidFill>
              </a:defRPr>
            </a:pPr>
            <a:r>
              <a:rPr sz="1800" b="1">
                <a:solidFill>
                  <a:srgbClr val="53745F"/>
                </a:solidFill>
              </a:rPr>
              <a:t>The live demonstration</a:t>
            </a:r>
          </a:p>
        </p:txBody>
      </p:sp>
      <p:sp>
        <p:nvSpPr>
          <p:cNvPr id="3" name="">
            <a:extLst xmlns:a="http://schemas.openxmlformats.org/drawingml/2006/main">
              <a:ext uri="{FF2B5EF4-FFF2-40B4-BE49-F238E27FC236}">
                <a16:creationId xmlns:a16="http://schemas.microsoft.com/office/drawing/2014/main" id="{48EB558F-81AF-4927-9AB9-C0E63C630116}"/>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822"/>
                </a:solidFill>
              </a:defRPr>
            </a:defPPr>
            <a:lvl1pPr>
              <a:defRPr sz="3900" b="1">
                <a:solidFill>
                  <a:srgbClr val="102822"/>
                </a:solidFill>
              </a:defRPr>
            </a:lvl1pPr>
            <a:lvl2pPr>
              <a:defRPr sz="3900" b="1">
                <a:solidFill>
                  <a:srgbClr val="102822"/>
                </a:solidFill>
              </a:defRPr>
            </a:lvl2pPr>
            <a:lvl3pPr>
              <a:defRPr sz="3900" b="1">
                <a:solidFill>
                  <a:srgbClr val="102822"/>
                </a:solidFill>
              </a:defRPr>
            </a:lvl3pPr>
            <a:lvl4pPr>
              <a:defRPr sz="3900" b="1">
                <a:solidFill>
                  <a:srgbClr val="102822"/>
                </a:solidFill>
              </a:defRPr>
            </a:lvl4pPr>
            <a:lvl5pPr>
              <a:defRPr sz="3900" b="1">
                <a:solidFill>
                  <a:srgbClr val="102822"/>
                </a:solidFill>
              </a:defRPr>
            </a:lvl5pPr>
            <a:lvl6pPr>
              <a:defRPr sz="3900" b="1">
                <a:solidFill>
                  <a:srgbClr val="102822"/>
                </a:solidFill>
              </a:defRPr>
            </a:lvl6pPr>
            <a:lvl7pPr>
              <a:defRPr sz="3900" b="1">
                <a:solidFill>
                  <a:srgbClr val="102822"/>
                </a:solidFill>
              </a:defRPr>
            </a:lvl7pPr>
            <a:lvl8pPr>
              <a:defRPr sz="3900" b="1">
                <a:solidFill>
                  <a:srgbClr val="102822"/>
                </a:solidFill>
              </a:defRPr>
            </a:lvl8pPr>
            <a:lvl9pPr>
              <a:defRPr sz="3900" b="1">
                <a:solidFill>
                  <a:srgbClr val="102822"/>
                </a:solidFill>
              </a:defRPr>
            </a:lvl9pPr>
          </a:lstStyle>
          <a:p xmlns:a="http://schemas.openxmlformats.org/drawingml/2006/main">
            <a:pPr>
              <a:defRPr sz="3900" b="1">
                <a:solidFill>
                  <a:srgbClr val="102822"/>
                </a:solidFill>
              </a:defRPr>
            </a:pPr>
            <a:r>
              <a:rPr sz="3900" b="1">
                <a:solidFill>
                  <a:srgbClr val="102822"/>
                </a:solidFill>
              </a:rPr>
              <a:t>One product, one decision</a:t>
            </a:r>
          </a:p>
        </p:txBody>
      </p:sp>
      <p:sp>
        <p:nvSpPr>
          <p:cNvPr id="4" name="">
            <a:extLst xmlns:a="http://schemas.openxmlformats.org/drawingml/2006/main">
              <a:ext uri="{FF2B5EF4-FFF2-40B4-BE49-F238E27FC236}">
                <a16:creationId xmlns:a16="http://schemas.microsoft.com/office/drawing/2014/main" id="{7D2A6A50-0439-4985-87C9-8C32662D9426}"/>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822"/>
                </a:solidFill>
              </a:defRPr>
            </a:defPPr>
            <a:lvl1pPr>
              <a:defRPr sz="2250" b="0">
                <a:solidFill>
                  <a:srgbClr val="102822"/>
                </a:solidFill>
              </a:defRPr>
            </a:lvl1pPr>
            <a:lvl2pPr>
              <a:defRPr sz="2250" b="0">
                <a:solidFill>
                  <a:srgbClr val="102822"/>
                </a:solidFill>
              </a:defRPr>
            </a:lvl2pPr>
            <a:lvl3pPr>
              <a:defRPr sz="2250" b="0">
                <a:solidFill>
                  <a:srgbClr val="102822"/>
                </a:solidFill>
              </a:defRPr>
            </a:lvl3pPr>
            <a:lvl4pPr>
              <a:defRPr sz="2250" b="0">
                <a:solidFill>
                  <a:srgbClr val="102822"/>
                </a:solidFill>
              </a:defRPr>
            </a:lvl4pPr>
            <a:lvl5pPr>
              <a:defRPr sz="2250" b="0">
                <a:solidFill>
                  <a:srgbClr val="102822"/>
                </a:solidFill>
              </a:defRPr>
            </a:lvl5pPr>
            <a:lvl6pPr>
              <a:defRPr sz="2250" b="0">
                <a:solidFill>
                  <a:srgbClr val="102822"/>
                </a:solidFill>
              </a:defRPr>
            </a:lvl6pPr>
            <a:lvl7pPr>
              <a:defRPr sz="2250" b="0">
                <a:solidFill>
                  <a:srgbClr val="102822"/>
                </a:solidFill>
              </a:defRPr>
            </a:lvl7pPr>
            <a:lvl8pPr>
              <a:defRPr sz="2250" b="0">
                <a:solidFill>
                  <a:srgbClr val="102822"/>
                </a:solidFill>
              </a:defRPr>
            </a:lvl8pPr>
            <a:lvl9pPr>
              <a:defRPr sz="2250" b="0">
                <a:solidFill>
                  <a:srgbClr val="102822"/>
                </a:solidFill>
              </a:defRPr>
            </a:lvl9pPr>
          </a:lstStyle>
          <a:p xmlns:a="http://schemas.openxmlformats.org/drawingml/2006/main">
            <a:pPr>
              <a:defRPr sz="2250" b="0">
                <a:solidFill>
                  <a:srgbClr val="102822"/>
                </a:solidFill>
              </a:defRPr>
            </a:pPr>
            <a:r>
              <a:rPr sz="2250" b="0">
                <a:solidFill>
                  <a:srgbClr val="102822"/>
                </a:solidFill>
              </a:rPr>
              <a:t>Inspect the imported sales history.</a:t>
            </a:r>
          </a:p>
          <a:p xmlns:a="http://schemas.openxmlformats.org/drawingml/2006/main">
            <a:pPr>
              <a:defRPr sz="2250" b="0">
                <a:solidFill>
                  <a:srgbClr val="102822"/>
                </a:solidFill>
              </a:defRPr>
            </a:pPr>
            <a:r>
              <a:rPr sz="2250" b="0">
                <a:solidFill>
                  <a:srgbClr val="102822"/>
                </a:solidFill>
              </a:rPr>
              <a:t>Generate a forecast for an eligible product.</a:t>
            </a:r>
          </a:p>
          <a:p xmlns:a="http://schemas.openxmlformats.org/drawingml/2006/main">
            <a:pPr>
              <a:defRPr sz="2250" b="0">
                <a:solidFill>
                  <a:srgbClr val="102822"/>
                </a:solidFill>
              </a:defRPr>
            </a:pPr>
            <a:r>
              <a:rPr sz="2250" b="0">
                <a:solidFill>
                  <a:srgbClr val="102822"/>
                </a:solidFill>
              </a:rPr>
              <a:t>Review stock coverage and supported advice.</a:t>
            </a:r>
          </a:p>
          <a:p xmlns:a="http://schemas.openxmlformats.org/drawingml/2006/main">
            <a:pPr>
              <a:defRPr sz="2250" b="0">
                <a:solidFill>
                  <a:srgbClr val="102822"/>
                </a:solidFill>
              </a:defRPr>
            </a:pPr>
            <a:r>
              <a:rPr sz="2250" b="0">
                <a:solidFill>
                  <a:srgbClr val="102822"/>
                </a:solidFill>
              </a:rPr>
              <a:t>Export the output for discussion.</a:t>
            </a:r>
          </a:p>
        </p:txBody>
      </p:sp>
      <p:sp>
        <p:nvSpPr>
          <p:cNvPr id="5" name="">
            <a:extLst xmlns:a="http://schemas.openxmlformats.org/drawingml/2006/main">
              <a:ext uri="{FF2B5EF4-FFF2-40B4-BE49-F238E27FC236}">
                <a16:creationId xmlns:a16="http://schemas.microsoft.com/office/drawing/2014/main" id="{78F51BE8-DD61-40D6-B7F8-FF88C8620277}"/>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745F"/>
                </a:solidFill>
              </a:defRPr>
            </a:defPPr>
            <a:lvl1pPr>
              <a:defRPr sz="1350" b="0">
                <a:solidFill>
                  <a:srgbClr val="53745F"/>
                </a:solidFill>
              </a:defRPr>
            </a:lvl1pPr>
            <a:lvl2pPr>
              <a:defRPr sz="1350" b="0">
                <a:solidFill>
                  <a:srgbClr val="53745F"/>
                </a:solidFill>
              </a:defRPr>
            </a:lvl2pPr>
            <a:lvl3pPr>
              <a:defRPr sz="1350" b="0">
                <a:solidFill>
                  <a:srgbClr val="53745F"/>
                </a:solidFill>
              </a:defRPr>
            </a:lvl3pPr>
            <a:lvl4pPr>
              <a:defRPr sz="1350" b="0">
                <a:solidFill>
                  <a:srgbClr val="53745F"/>
                </a:solidFill>
              </a:defRPr>
            </a:lvl4pPr>
            <a:lvl5pPr>
              <a:defRPr sz="1350" b="0">
                <a:solidFill>
                  <a:srgbClr val="53745F"/>
                </a:solidFill>
              </a:defRPr>
            </a:lvl5pPr>
            <a:lvl6pPr>
              <a:defRPr sz="1350" b="0">
                <a:solidFill>
                  <a:srgbClr val="53745F"/>
                </a:solidFill>
              </a:defRPr>
            </a:lvl6pPr>
            <a:lvl7pPr>
              <a:defRPr sz="1350" b="0">
                <a:solidFill>
                  <a:srgbClr val="53745F"/>
                </a:solidFill>
              </a:defRPr>
            </a:lvl7pPr>
            <a:lvl8pPr>
              <a:defRPr sz="1350" b="0">
                <a:solidFill>
                  <a:srgbClr val="53745F"/>
                </a:solidFill>
              </a:defRPr>
            </a:lvl8pPr>
            <a:lvl9pPr>
              <a:defRPr sz="1350" b="0">
                <a:solidFill>
                  <a:srgbClr val="53745F"/>
                </a:solidFill>
              </a:defRPr>
            </a:lvl9pPr>
          </a:lstStyle>
          <a:p xmlns:a="http://schemas.openxmlformats.org/drawingml/2006/main">
            <a:pPr>
              <a:defRPr sz="1350" b="0">
                <a:solidFill>
                  <a:srgbClr val="53745F"/>
                </a:solidFill>
              </a:defRPr>
            </a:pPr>
            <a:r>
              <a:rPr sz="1350" b="0">
                <a:solidFill>
                  <a:srgbClr val="53745F"/>
                </a:solidFill>
              </a:rPr>
              <a:t>06</a:t>
            </a:r>
          </a:p>
        </p:txBody>
      </p:sp>
    </p:spTree>
    <p:extLst>
      <p:ext uri="{BB962C8B-B14F-4D97-AF65-F5344CB8AC3E}">
        <p14:creationId xmlns:p14="http://schemas.microsoft.com/office/powerpoint/2010/main" val="1376829370"/>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0C1DF0-263A-44E1-B4F9-097950B7F867}"/>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3745F"/>
                </a:solidFill>
              </a:defRPr>
            </a:defPPr>
            <a:lvl1pPr>
              <a:defRPr sz="1800" b="1">
                <a:solidFill>
                  <a:srgbClr val="53745F"/>
                </a:solidFill>
              </a:defRPr>
            </a:lvl1pPr>
            <a:lvl2pPr>
              <a:defRPr sz="1800" b="1">
                <a:solidFill>
                  <a:srgbClr val="53745F"/>
                </a:solidFill>
              </a:defRPr>
            </a:lvl2pPr>
            <a:lvl3pPr>
              <a:defRPr sz="1800" b="1">
                <a:solidFill>
                  <a:srgbClr val="53745F"/>
                </a:solidFill>
              </a:defRPr>
            </a:lvl3pPr>
            <a:lvl4pPr>
              <a:defRPr sz="1800" b="1">
                <a:solidFill>
                  <a:srgbClr val="53745F"/>
                </a:solidFill>
              </a:defRPr>
            </a:lvl4pPr>
            <a:lvl5pPr>
              <a:defRPr sz="1800" b="1">
                <a:solidFill>
                  <a:srgbClr val="53745F"/>
                </a:solidFill>
              </a:defRPr>
            </a:lvl5pPr>
            <a:lvl6pPr>
              <a:defRPr sz="1800" b="1">
                <a:solidFill>
                  <a:srgbClr val="53745F"/>
                </a:solidFill>
              </a:defRPr>
            </a:lvl6pPr>
            <a:lvl7pPr>
              <a:defRPr sz="1800" b="1">
                <a:solidFill>
                  <a:srgbClr val="53745F"/>
                </a:solidFill>
              </a:defRPr>
            </a:lvl7pPr>
            <a:lvl8pPr>
              <a:defRPr sz="1800" b="1">
                <a:solidFill>
                  <a:srgbClr val="53745F"/>
                </a:solidFill>
              </a:defRPr>
            </a:lvl8pPr>
            <a:lvl9pPr>
              <a:defRPr sz="1800" b="1">
                <a:solidFill>
                  <a:srgbClr val="53745F"/>
                </a:solidFill>
              </a:defRPr>
            </a:lvl9pPr>
          </a:lstStyle>
          <a:p xmlns:a="http://schemas.openxmlformats.org/drawingml/2006/main">
            <a:pPr>
              <a:defRPr sz="1800" b="1">
                <a:solidFill>
                  <a:srgbClr val="53745F"/>
                </a:solidFill>
              </a:defRPr>
            </a:pPr>
            <a:r>
              <a:rPr sz="1800" b="1">
                <a:solidFill>
                  <a:srgbClr val="53745F"/>
                </a:solidFill>
              </a:rPr>
              <a:t>How we evaluate results</a:t>
            </a:r>
          </a:p>
        </p:txBody>
      </p:sp>
      <p:sp>
        <p:nvSpPr>
          <p:cNvPr id="3" name="">
            <a:extLst xmlns:a="http://schemas.openxmlformats.org/drawingml/2006/main">
              <a:ext uri="{FF2B5EF4-FFF2-40B4-BE49-F238E27FC236}">
                <a16:creationId xmlns:a16="http://schemas.microsoft.com/office/drawing/2014/main" id="{8C85AD33-3CCA-41E9-99BD-E31FCBAB20BA}"/>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822"/>
                </a:solidFill>
              </a:defRPr>
            </a:defPPr>
            <a:lvl1pPr>
              <a:defRPr sz="3900" b="1">
                <a:solidFill>
                  <a:srgbClr val="102822"/>
                </a:solidFill>
              </a:defRPr>
            </a:lvl1pPr>
            <a:lvl2pPr>
              <a:defRPr sz="3900" b="1">
                <a:solidFill>
                  <a:srgbClr val="102822"/>
                </a:solidFill>
              </a:defRPr>
            </a:lvl2pPr>
            <a:lvl3pPr>
              <a:defRPr sz="3900" b="1">
                <a:solidFill>
                  <a:srgbClr val="102822"/>
                </a:solidFill>
              </a:defRPr>
            </a:lvl3pPr>
            <a:lvl4pPr>
              <a:defRPr sz="3900" b="1">
                <a:solidFill>
                  <a:srgbClr val="102822"/>
                </a:solidFill>
              </a:defRPr>
            </a:lvl4pPr>
            <a:lvl5pPr>
              <a:defRPr sz="3900" b="1">
                <a:solidFill>
                  <a:srgbClr val="102822"/>
                </a:solidFill>
              </a:defRPr>
            </a:lvl5pPr>
            <a:lvl6pPr>
              <a:defRPr sz="3900" b="1">
                <a:solidFill>
                  <a:srgbClr val="102822"/>
                </a:solidFill>
              </a:defRPr>
            </a:lvl6pPr>
            <a:lvl7pPr>
              <a:defRPr sz="3900" b="1">
                <a:solidFill>
                  <a:srgbClr val="102822"/>
                </a:solidFill>
              </a:defRPr>
            </a:lvl7pPr>
            <a:lvl8pPr>
              <a:defRPr sz="3900" b="1">
                <a:solidFill>
                  <a:srgbClr val="102822"/>
                </a:solidFill>
              </a:defRPr>
            </a:lvl8pPr>
            <a:lvl9pPr>
              <a:defRPr sz="3900" b="1">
                <a:solidFill>
                  <a:srgbClr val="102822"/>
                </a:solidFill>
              </a:defRPr>
            </a:lvl9pPr>
          </a:lstStyle>
          <a:p xmlns:a="http://schemas.openxmlformats.org/drawingml/2006/main">
            <a:pPr>
              <a:defRPr sz="3900" b="1">
                <a:solidFill>
                  <a:srgbClr val="102822"/>
                </a:solidFill>
              </a:defRPr>
            </a:pPr>
            <a:r>
              <a:rPr sz="3900" b="1">
                <a:solidFill>
                  <a:srgbClr val="102822"/>
                </a:solidFill>
              </a:rPr>
              <a:t>Forecast quality needs unseen sales</a:t>
            </a:r>
          </a:p>
        </p:txBody>
      </p:sp>
      <p:sp>
        <p:nvSpPr>
          <p:cNvPr id="4" name="">
            <a:extLst xmlns:a="http://schemas.openxmlformats.org/drawingml/2006/main">
              <a:ext uri="{FF2B5EF4-FFF2-40B4-BE49-F238E27FC236}">
                <a16:creationId xmlns:a16="http://schemas.microsoft.com/office/drawing/2014/main" id="{349F1D98-53BE-4EA6-9D84-0A67AFBFE051}"/>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822"/>
                </a:solidFill>
              </a:defRPr>
            </a:defPPr>
            <a:lvl1pPr>
              <a:defRPr sz="2250" b="0">
                <a:solidFill>
                  <a:srgbClr val="102822"/>
                </a:solidFill>
              </a:defRPr>
            </a:lvl1pPr>
            <a:lvl2pPr>
              <a:defRPr sz="2250" b="0">
                <a:solidFill>
                  <a:srgbClr val="102822"/>
                </a:solidFill>
              </a:defRPr>
            </a:lvl2pPr>
            <a:lvl3pPr>
              <a:defRPr sz="2250" b="0">
                <a:solidFill>
                  <a:srgbClr val="102822"/>
                </a:solidFill>
              </a:defRPr>
            </a:lvl3pPr>
            <a:lvl4pPr>
              <a:defRPr sz="2250" b="0">
                <a:solidFill>
                  <a:srgbClr val="102822"/>
                </a:solidFill>
              </a:defRPr>
            </a:lvl4pPr>
            <a:lvl5pPr>
              <a:defRPr sz="2250" b="0">
                <a:solidFill>
                  <a:srgbClr val="102822"/>
                </a:solidFill>
              </a:defRPr>
            </a:lvl5pPr>
            <a:lvl6pPr>
              <a:defRPr sz="2250" b="0">
                <a:solidFill>
                  <a:srgbClr val="102822"/>
                </a:solidFill>
              </a:defRPr>
            </a:lvl6pPr>
            <a:lvl7pPr>
              <a:defRPr sz="2250" b="0">
                <a:solidFill>
                  <a:srgbClr val="102822"/>
                </a:solidFill>
              </a:defRPr>
            </a:lvl7pPr>
            <a:lvl8pPr>
              <a:defRPr sz="2250" b="0">
                <a:solidFill>
                  <a:srgbClr val="102822"/>
                </a:solidFill>
              </a:defRPr>
            </a:lvl8pPr>
            <a:lvl9pPr>
              <a:defRPr sz="2250" b="0">
                <a:solidFill>
                  <a:srgbClr val="102822"/>
                </a:solidFill>
              </a:defRPr>
            </a:lvl9pPr>
          </a:lstStyle>
          <a:p xmlns:a="http://schemas.openxmlformats.org/drawingml/2006/main">
            <a:pPr>
              <a:defRPr sz="2250" b="0">
                <a:solidFill>
                  <a:srgbClr val="102822"/>
                </a:solidFill>
              </a:defRPr>
            </a:pPr>
            <a:r>
              <a:rPr sz="2250" b="0">
                <a:solidFill>
                  <a:srgbClr val="102822"/>
                </a:solidFill>
              </a:rPr>
              <a:t>Keep a later historical period aside.</a:t>
            </a:r>
          </a:p>
          <a:p xmlns:a="http://schemas.openxmlformats.org/drawingml/2006/main">
            <a:pPr>
              <a:defRPr sz="2250" b="0">
                <a:solidFill>
                  <a:srgbClr val="102822"/>
                </a:solidFill>
              </a:defRPr>
            </a:pPr>
            <a:r>
              <a:rPr sz="2250" b="0">
                <a:solidFill>
                  <a:srgbClr val="102822"/>
                </a:solidFill>
              </a:rPr>
              <a:t>Forecast using only earlier records.</a:t>
            </a:r>
          </a:p>
          <a:p xmlns:a="http://schemas.openxmlformats.org/drawingml/2006/main">
            <a:pPr>
              <a:defRPr sz="2250" b="0">
                <a:solidFill>
                  <a:srgbClr val="102822"/>
                </a:solidFill>
              </a:defRPr>
            </a:pPr>
            <a:r>
              <a:rPr sz="2250" b="0">
                <a:solidFill>
                  <a:srgbClr val="102822"/>
                </a:solidFill>
              </a:rPr>
              <a:t>Compare with actual sales and a simple baseline.</a:t>
            </a:r>
          </a:p>
        </p:txBody>
      </p:sp>
      <p:sp>
        <p:nvSpPr>
          <p:cNvPr id="5" name="">
            <a:extLst xmlns:a="http://schemas.openxmlformats.org/drawingml/2006/main">
              <a:ext uri="{FF2B5EF4-FFF2-40B4-BE49-F238E27FC236}">
                <a16:creationId xmlns:a16="http://schemas.microsoft.com/office/drawing/2014/main" id="{30AF5E4A-FA80-43CA-BB67-37C13D885DAA}"/>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745F"/>
                </a:solidFill>
              </a:defRPr>
            </a:defPPr>
            <a:lvl1pPr>
              <a:defRPr sz="1350" b="0">
                <a:solidFill>
                  <a:srgbClr val="53745F"/>
                </a:solidFill>
              </a:defRPr>
            </a:lvl1pPr>
            <a:lvl2pPr>
              <a:defRPr sz="1350" b="0">
                <a:solidFill>
                  <a:srgbClr val="53745F"/>
                </a:solidFill>
              </a:defRPr>
            </a:lvl2pPr>
            <a:lvl3pPr>
              <a:defRPr sz="1350" b="0">
                <a:solidFill>
                  <a:srgbClr val="53745F"/>
                </a:solidFill>
              </a:defRPr>
            </a:lvl3pPr>
            <a:lvl4pPr>
              <a:defRPr sz="1350" b="0">
                <a:solidFill>
                  <a:srgbClr val="53745F"/>
                </a:solidFill>
              </a:defRPr>
            </a:lvl4pPr>
            <a:lvl5pPr>
              <a:defRPr sz="1350" b="0">
                <a:solidFill>
                  <a:srgbClr val="53745F"/>
                </a:solidFill>
              </a:defRPr>
            </a:lvl5pPr>
            <a:lvl6pPr>
              <a:defRPr sz="1350" b="0">
                <a:solidFill>
                  <a:srgbClr val="53745F"/>
                </a:solidFill>
              </a:defRPr>
            </a:lvl6pPr>
            <a:lvl7pPr>
              <a:defRPr sz="1350" b="0">
                <a:solidFill>
                  <a:srgbClr val="53745F"/>
                </a:solidFill>
              </a:defRPr>
            </a:lvl7pPr>
            <a:lvl8pPr>
              <a:defRPr sz="1350" b="0">
                <a:solidFill>
                  <a:srgbClr val="53745F"/>
                </a:solidFill>
              </a:defRPr>
            </a:lvl8pPr>
            <a:lvl9pPr>
              <a:defRPr sz="1350" b="0">
                <a:solidFill>
                  <a:srgbClr val="53745F"/>
                </a:solidFill>
              </a:defRPr>
            </a:lvl9pPr>
          </a:lstStyle>
          <a:p xmlns:a="http://schemas.openxmlformats.org/drawingml/2006/main">
            <a:pPr>
              <a:defRPr sz="1350" b="0">
                <a:solidFill>
                  <a:srgbClr val="53745F"/>
                </a:solidFill>
              </a:defRPr>
            </a:pPr>
            <a:r>
              <a:rPr sz="1350" b="0">
                <a:solidFill>
                  <a:srgbClr val="53745F"/>
                </a:solidFill>
              </a:rPr>
              <a:t>07</a:t>
            </a:r>
          </a:p>
        </p:txBody>
      </p:sp>
    </p:spTree>
    <p:extLst>
      <p:ext uri="{BB962C8B-B14F-4D97-AF65-F5344CB8AC3E}">
        <p14:creationId xmlns:p14="http://schemas.microsoft.com/office/powerpoint/2010/main" val="1945717275"/>
      </p:ext>
    </p:extLst>
  </p:cSld>
</p:sld>
</file>

<file path=ppt/slides/slide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83D9BA3-1770-4126-AB88-F01845AB31CB}"/>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3745F"/>
                </a:solidFill>
              </a:defRPr>
            </a:defPPr>
            <a:lvl1pPr>
              <a:defRPr sz="1800" b="1">
                <a:solidFill>
                  <a:srgbClr val="53745F"/>
                </a:solidFill>
              </a:defRPr>
            </a:lvl1pPr>
            <a:lvl2pPr>
              <a:defRPr sz="1800" b="1">
                <a:solidFill>
                  <a:srgbClr val="53745F"/>
                </a:solidFill>
              </a:defRPr>
            </a:lvl2pPr>
            <a:lvl3pPr>
              <a:defRPr sz="1800" b="1">
                <a:solidFill>
                  <a:srgbClr val="53745F"/>
                </a:solidFill>
              </a:defRPr>
            </a:lvl3pPr>
            <a:lvl4pPr>
              <a:defRPr sz="1800" b="1">
                <a:solidFill>
                  <a:srgbClr val="53745F"/>
                </a:solidFill>
              </a:defRPr>
            </a:lvl4pPr>
            <a:lvl5pPr>
              <a:defRPr sz="1800" b="1">
                <a:solidFill>
                  <a:srgbClr val="53745F"/>
                </a:solidFill>
              </a:defRPr>
            </a:lvl5pPr>
            <a:lvl6pPr>
              <a:defRPr sz="1800" b="1">
                <a:solidFill>
                  <a:srgbClr val="53745F"/>
                </a:solidFill>
              </a:defRPr>
            </a:lvl6pPr>
            <a:lvl7pPr>
              <a:defRPr sz="1800" b="1">
                <a:solidFill>
                  <a:srgbClr val="53745F"/>
                </a:solidFill>
              </a:defRPr>
            </a:lvl7pPr>
            <a:lvl8pPr>
              <a:defRPr sz="1800" b="1">
                <a:solidFill>
                  <a:srgbClr val="53745F"/>
                </a:solidFill>
              </a:defRPr>
            </a:lvl8pPr>
            <a:lvl9pPr>
              <a:defRPr sz="1800" b="1">
                <a:solidFill>
                  <a:srgbClr val="53745F"/>
                </a:solidFill>
              </a:defRPr>
            </a:lvl9pPr>
          </a:lstStyle>
          <a:p xmlns:a="http://schemas.openxmlformats.org/drawingml/2006/main">
            <a:pPr>
              <a:defRPr sz="1800" b="1">
                <a:solidFill>
                  <a:srgbClr val="53745F"/>
                </a:solidFill>
              </a:defRPr>
            </a:pPr>
            <a:r>
              <a:rPr sz="1800" b="1">
                <a:solidFill>
                  <a:srgbClr val="53745F"/>
                </a:solidFill>
              </a:rPr>
              <a:t>A focused pilot</a:t>
            </a:r>
          </a:p>
        </p:txBody>
      </p:sp>
      <p:sp>
        <p:nvSpPr>
          <p:cNvPr id="3" name="">
            <a:extLst xmlns:a="http://schemas.openxmlformats.org/drawingml/2006/main">
              <a:ext uri="{FF2B5EF4-FFF2-40B4-BE49-F238E27FC236}">
                <a16:creationId xmlns:a16="http://schemas.microsoft.com/office/drawing/2014/main" id="{96C2D81D-4C29-49AD-8DB9-9BF37B69923E}"/>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822"/>
                </a:solidFill>
              </a:defRPr>
            </a:defPPr>
            <a:lvl1pPr>
              <a:defRPr sz="3900" b="1">
                <a:solidFill>
                  <a:srgbClr val="102822"/>
                </a:solidFill>
              </a:defRPr>
            </a:lvl1pPr>
            <a:lvl2pPr>
              <a:defRPr sz="3900" b="1">
                <a:solidFill>
                  <a:srgbClr val="102822"/>
                </a:solidFill>
              </a:defRPr>
            </a:lvl2pPr>
            <a:lvl3pPr>
              <a:defRPr sz="3900" b="1">
                <a:solidFill>
                  <a:srgbClr val="102822"/>
                </a:solidFill>
              </a:defRPr>
            </a:lvl3pPr>
            <a:lvl4pPr>
              <a:defRPr sz="3900" b="1">
                <a:solidFill>
                  <a:srgbClr val="102822"/>
                </a:solidFill>
              </a:defRPr>
            </a:lvl4pPr>
            <a:lvl5pPr>
              <a:defRPr sz="3900" b="1">
                <a:solidFill>
                  <a:srgbClr val="102822"/>
                </a:solidFill>
              </a:defRPr>
            </a:lvl5pPr>
            <a:lvl6pPr>
              <a:defRPr sz="3900" b="1">
                <a:solidFill>
                  <a:srgbClr val="102822"/>
                </a:solidFill>
              </a:defRPr>
            </a:lvl6pPr>
            <a:lvl7pPr>
              <a:defRPr sz="3900" b="1">
                <a:solidFill>
                  <a:srgbClr val="102822"/>
                </a:solidFill>
              </a:defRPr>
            </a:lvl7pPr>
            <a:lvl8pPr>
              <a:defRPr sz="3900" b="1">
                <a:solidFill>
                  <a:srgbClr val="102822"/>
                </a:solidFill>
              </a:defRPr>
            </a:lvl8pPr>
            <a:lvl9pPr>
              <a:defRPr sz="3900" b="1">
                <a:solidFill>
                  <a:srgbClr val="102822"/>
                </a:solidFill>
              </a:defRPr>
            </a:lvl9pPr>
          </a:lstStyle>
          <a:p xmlns:a="http://schemas.openxmlformats.org/drawingml/2006/main">
            <a:pPr>
              <a:defRPr sz="3900" b="1">
                <a:solidFill>
                  <a:srgbClr val="102822"/>
                </a:solidFill>
              </a:defRPr>
            </a:pPr>
            <a:r>
              <a:rPr sz="3900" b="1">
                <a:solidFill>
                  <a:srgbClr val="102822"/>
                </a:solidFill>
              </a:rPr>
              <a:t>One category and an agreed review period</a:t>
            </a:r>
          </a:p>
        </p:txBody>
      </p:sp>
      <p:sp>
        <p:nvSpPr>
          <p:cNvPr id="4" name="">
            <a:extLst xmlns:a="http://schemas.openxmlformats.org/drawingml/2006/main">
              <a:ext uri="{FF2B5EF4-FFF2-40B4-BE49-F238E27FC236}">
                <a16:creationId xmlns:a16="http://schemas.microsoft.com/office/drawing/2014/main" id="{66FF1FE3-C0F6-40D3-8BFE-08E823ED5C66}"/>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822"/>
                </a:solidFill>
              </a:defRPr>
            </a:defPPr>
            <a:lvl1pPr>
              <a:defRPr sz="2250" b="0">
                <a:solidFill>
                  <a:srgbClr val="102822"/>
                </a:solidFill>
              </a:defRPr>
            </a:lvl1pPr>
            <a:lvl2pPr>
              <a:defRPr sz="2250" b="0">
                <a:solidFill>
                  <a:srgbClr val="102822"/>
                </a:solidFill>
              </a:defRPr>
            </a:lvl2pPr>
            <a:lvl3pPr>
              <a:defRPr sz="2250" b="0">
                <a:solidFill>
                  <a:srgbClr val="102822"/>
                </a:solidFill>
              </a:defRPr>
            </a:lvl3pPr>
            <a:lvl4pPr>
              <a:defRPr sz="2250" b="0">
                <a:solidFill>
                  <a:srgbClr val="102822"/>
                </a:solidFill>
              </a:defRPr>
            </a:lvl4pPr>
            <a:lvl5pPr>
              <a:defRPr sz="2250" b="0">
                <a:solidFill>
                  <a:srgbClr val="102822"/>
                </a:solidFill>
              </a:defRPr>
            </a:lvl5pPr>
            <a:lvl6pPr>
              <a:defRPr sz="2250" b="0">
                <a:solidFill>
                  <a:srgbClr val="102822"/>
                </a:solidFill>
              </a:defRPr>
            </a:lvl6pPr>
            <a:lvl7pPr>
              <a:defRPr sz="2250" b="0">
                <a:solidFill>
                  <a:srgbClr val="102822"/>
                </a:solidFill>
              </a:defRPr>
            </a:lvl7pPr>
            <a:lvl8pPr>
              <a:defRPr sz="2250" b="0">
                <a:solidFill>
                  <a:srgbClr val="102822"/>
                </a:solidFill>
              </a:defRPr>
            </a:lvl8pPr>
            <a:lvl9pPr>
              <a:defRPr sz="2250" b="0">
                <a:solidFill>
                  <a:srgbClr val="102822"/>
                </a:solidFill>
              </a:defRPr>
            </a:lvl9pPr>
          </a:lstStyle>
          <a:p xmlns:a="http://schemas.openxmlformats.org/drawingml/2006/main">
            <a:pPr>
              <a:defRPr sz="2250" b="0">
                <a:solidFill>
                  <a:srgbClr val="102822"/>
                </a:solidFill>
              </a:defRPr>
            </a:pPr>
            <a:r>
              <a:rPr sz="2250" b="0">
                <a:solidFill>
                  <a:srgbClr val="102822"/>
                </a:solidFill>
              </a:rPr>
              <a:t>Choose products with usable history.</a:t>
            </a:r>
          </a:p>
          <a:p xmlns:a="http://schemas.openxmlformats.org/drawingml/2006/main">
            <a:pPr>
              <a:defRPr sz="2250" b="0">
                <a:solidFill>
                  <a:srgbClr val="102822"/>
                </a:solidFill>
              </a:defRPr>
            </a:pPr>
            <a:r>
              <a:rPr sz="2250" b="0">
                <a:solidFill>
                  <a:srgbClr val="102822"/>
                </a:solidFill>
              </a:rPr>
              <a:t>Agree the decision and success measures.</a:t>
            </a:r>
          </a:p>
          <a:p xmlns:a="http://schemas.openxmlformats.org/drawingml/2006/main">
            <a:pPr>
              <a:defRPr sz="2250" b="0">
                <a:solidFill>
                  <a:srgbClr val="102822"/>
                </a:solidFill>
              </a:defRPr>
            </a:pPr>
            <a:r>
              <a:rPr sz="2250" b="0">
                <a:solidFill>
                  <a:srgbClr val="102822"/>
                </a:solidFill>
              </a:rPr>
              <a:t>Review recommendations with your manager.</a:t>
            </a:r>
          </a:p>
          <a:p xmlns:a="http://schemas.openxmlformats.org/drawingml/2006/main">
            <a:pPr>
              <a:defRPr sz="2250" b="0">
                <a:solidFill>
                  <a:srgbClr val="102822"/>
                </a:solidFill>
              </a:defRPr>
            </a:pPr>
            <a:r>
              <a:rPr sz="2250" b="0">
                <a:solidFill>
                  <a:srgbClr val="102822"/>
                </a:solidFill>
              </a:rPr>
              <a:t>Use observed results to decide the next step.</a:t>
            </a:r>
          </a:p>
        </p:txBody>
      </p:sp>
      <p:sp>
        <p:nvSpPr>
          <p:cNvPr id="5" name="">
            <a:extLst xmlns:a="http://schemas.openxmlformats.org/drawingml/2006/main">
              <a:ext uri="{FF2B5EF4-FFF2-40B4-BE49-F238E27FC236}">
                <a16:creationId xmlns:a16="http://schemas.microsoft.com/office/drawing/2014/main" id="{C72A7852-DF40-4006-94B2-4825671E6D84}"/>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745F"/>
                </a:solidFill>
              </a:defRPr>
            </a:defPPr>
            <a:lvl1pPr>
              <a:defRPr sz="1350" b="0">
                <a:solidFill>
                  <a:srgbClr val="53745F"/>
                </a:solidFill>
              </a:defRPr>
            </a:lvl1pPr>
            <a:lvl2pPr>
              <a:defRPr sz="1350" b="0">
                <a:solidFill>
                  <a:srgbClr val="53745F"/>
                </a:solidFill>
              </a:defRPr>
            </a:lvl2pPr>
            <a:lvl3pPr>
              <a:defRPr sz="1350" b="0">
                <a:solidFill>
                  <a:srgbClr val="53745F"/>
                </a:solidFill>
              </a:defRPr>
            </a:lvl3pPr>
            <a:lvl4pPr>
              <a:defRPr sz="1350" b="0">
                <a:solidFill>
                  <a:srgbClr val="53745F"/>
                </a:solidFill>
              </a:defRPr>
            </a:lvl4pPr>
            <a:lvl5pPr>
              <a:defRPr sz="1350" b="0">
                <a:solidFill>
                  <a:srgbClr val="53745F"/>
                </a:solidFill>
              </a:defRPr>
            </a:lvl5pPr>
            <a:lvl6pPr>
              <a:defRPr sz="1350" b="0">
                <a:solidFill>
                  <a:srgbClr val="53745F"/>
                </a:solidFill>
              </a:defRPr>
            </a:lvl6pPr>
            <a:lvl7pPr>
              <a:defRPr sz="1350" b="0">
                <a:solidFill>
                  <a:srgbClr val="53745F"/>
                </a:solidFill>
              </a:defRPr>
            </a:lvl7pPr>
            <a:lvl8pPr>
              <a:defRPr sz="1350" b="0">
                <a:solidFill>
                  <a:srgbClr val="53745F"/>
                </a:solidFill>
              </a:defRPr>
            </a:lvl8pPr>
            <a:lvl9pPr>
              <a:defRPr sz="1350" b="0">
                <a:solidFill>
                  <a:srgbClr val="53745F"/>
                </a:solidFill>
              </a:defRPr>
            </a:lvl9pPr>
          </a:lstStyle>
          <a:p xmlns:a="http://schemas.openxmlformats.org/drawingml/2006/main">
            <a:pPr>
              <a:defRPr sz="1350" b="0">
                <a:solidFill>
                  <a:srgbClr val="53745F"/>
                </a:solidFill>
              </a:defRPr>
            </a:pPr>
            <a:r>
              <a:rPr sz="1350" b="0">
                <a:solidFill>
                  <a:srgbClr val="53745F"/>
                </a:solidFill>
              </a:rPr>
              <a:t>08</a:t>
            </a:r>
          </a:p>
        </p:txBody>
      </p:sp>
    </p:spTree>
    <p:extLst>
      <p:ext uri="{BB962C8B-B14F-4D97-AF65-F5344CB8AC3E}">
        <p14:creationId xmlns:p14="http://schemas.microsoft.com/office/powerpoint/2010/main" val="1055587645"/>
      </p:ext>
    </p:extLst>
  </p:cSld>
</p:sld>
</file>

<file path=ppt/slides/slide9.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B7B672D-3730-4018-B8FB-85CDBD740463}"/>
              </a:ext>
            </a:extLst>
          </p:cNvPr>
          <p:cNvSpPr>
            <a:spLocks xmlns:a="http://schemas.openxmlformats.org/drawingml/2006/main" noGrp="1"/>
          </p:cNvSpPr>
          <p:nvPr/>
        </p:nvSpPr>
        <p:spPr>
          <a:xfrm xmlns:a="http://schemas.openxmlformats.org/drawingml/2006/main">
            <a:off x="762000" y="571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53745F"/>
                </a:solidFill>
              </a:defRPr>
            </a:defPPr>
            <a:lvl1pPr>
              <a:defRPr sz="1800" b="1">
                <a:solidFill>
                  <a:srgbClr val="53745F"/>
                </a:solidFill>
              </a:defRPr>
            </a:lvl1pPr>
            <a:lvl2pPr>
              <a:defRPr sz="1800" b="1">
                <a:solidFill>
                  <a:srgbClr val="53745F"/>
                </a:solidFill>
              </a:defRPr>
            </a:lvl2pPr>
            <a:lvl3pPr>
              <a:defRPr sz="1800" b="1">
                <a:solidFill>
                  <a:srgbClr val="53745F"/>
                </a:solidFill>
              </a:defRPr>
            </a:lvl3pPr>
            <a:lvl4pPr>
              <a:defRPr sz="1800" b="1">
                <a:solidFill>
                  <a:srgbClr val="53745F"/>
                </a:solidFill>
              </a:defRPr>
            </a:lvl4pPr>
            <a:lvl5pPr>
              <a:defRPr sz="1800" b="1">
                <a:solidFill>
                  <a:srgbClr val="53745F"/>
                </a:solidFill>
              </a:defRPr>
            </a:lvl5pPr>
            <a:lvl6pPr>
              <a:defRPr sz="1800" b="1">
                <a:solidFill>
                  <a:srgbClr val="53745F"/>
                </a:solidFill>
              </a:defRPr>
            </a:lvl6pPr>
            <a:lvl7pPr>
              <a:defRPr sz="1800" b="1">
                <a:solidFill>
                  <a:srgbClr val="53745F"/>
                </a:solidFill>
              </a:defRPr>
            </a:lvl7pPr>
            <a:lvl8pPr>
              <a:defRPr sz="1800" b="1">
                <a:solidFill>
                  <a:srgbClr val="53745F"/>
                </a:solidFill>
              </a:defRPr>
            </a:lvl8pPr>
            <a:lvl9pPr>
              <a:defRPr sz="1800" b="1">
                <a:solidFill>
                  <a:srgbClr val="53745F"/>
                </a:solidFill>
              </a:defRPr>
            </a:lvl9pPr>
          </a:lstStyle>
          <a:p xmlns:a="http://schemas.openxmlformats.org/drawingml/2006/main">
            <a:pPr>
              <a:defRPr sz="1800" b="1">
                <a:solidFill>
                  <a:srgbClr val="53745F"/>
                </a:solidFill>
              </a:defRPr>
            </a:pPr>
            <a:r>
              <a:rPr sz="1800" b="1">
                <a:solidFill>
                  <a:srgbClr val="53745F"/>
                </a:solidFill>
              </a:rPr>
              <a:t>Today’s next step</a:t>
            </a:r>
          </a:p>
        </p:txBody>
      </p:sp>
      <p:sp>
        <p:nvSpPr>
          <p:cNvPr id="3" name="">
            <a:extLst xmlns:a="http://schemas.openxmlformats.org/drawingml/2006/main">
              <a:ext uri="{FF2B5EF4-FFF2-40B4-BE49-F238E27FC236}">
                <a16:creationId xmlns:a16="http://schemas.microsoft.com/office/drawing/2014/main" id="{1A44208B-9907-4E69-B4EB-51AF68575874}"/>
              </a:ext>
            </a:extLst>
          </p:cNvPr>
          <p:cNvSpPr>
            <a:spLocks xmlns:a="http://schemas.openxmlformats.org/drawingml/2006/main" noGrp="1"/>
          </p:cNvSpPr>
          <p:nvPr/>
        </p:nvSpPr>
        <p:spPr>
          <a:xfrm xmlns:a="http://schemas.openxmlformats.org/drawingml/2006/main">
            <a:off x="762000" y="15240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822"/>
                </a:solidFill>
              </a:defRPr>
            </a:defPPr>
            <a:lvl1pPr>
              <a:defRPr sz="3900" b="1">
                <a:solidFill>
                  <a:srgbClr val="102822"/>
                </a:solidFill>
              </a:defRPr>
            </a:lvl1pPr>
            <a:lvl2pPr>
              <a:defRPr sz="3900" b="1">
                <a:solidFill>
                  <a:srgbClr val="102822"/>
                </a:solidFill>
              </a:defRPr>
            </a:lvl2pPr>
            <a:lvl3pPr>
              <a:defRPr sz="3900" b="1">
                <a:solidFill>
                  <a:srgbClr val="102822"/>
                </a:solidFill>
              </a:defRPr>
            </a:lvl3pPr>
            <a:lvl4pPr>
              <a:defRPr sz="3900" b="1">
                <a:solidFill>
                  <a:srgbClr val="102822"/>
                </a:solidFill>
              </a:defRPr>
            </a:lvl4pPr>
            <a:lvl5pPr>
              <a:defRPr sz="3900" b="1">
                <a:solidFill>
                  <a:srgbClr val="102822"/>
                </a:solidFill>
              </a:defRPr>
            </a:lvl5pPr>
            <a:lvl6pPr>
              <a:defRPr sz="3900" b="1">
                <a:solidFill>
                  <a:srgbClr val="102822"/>
                </a:solidFill>
              </a:defRPr>
            </a:lvl6pPr>
            <a:lvl7pPr>
              <a:defRPr sz="3900" b="1">
                <a:solidFill>
                  <a:srgbClr val="102822"/>
                </a:solidFill>
              </a:defRPr>
            </a:lvl7pPr>
            <a:lvl8pPr>
              <a:defRPr sz="3900" b="1">
                <a:solidFill>
                  <a:srgbClr val="102822"/>
                </a:solidFill>
              </a:defRPr>
            </a:lvl8pPr>
            <a:lvl9pPr>
              <a:defRPr sz="3900" b="1">
                <a:solidFill>
                  <a:srgbClr val="102822"/>
                </a:solidFill>
              </a:defRPr>
            </a:lvl9pPr>
          </a:lstStyle>
          <a:p xmlns:a="http://schemas.openxmlformats.org/drawingml/2006/main">
            <a:pPr>
              <a:defRPr sz="3900" b="1">
                <a:solidFill>
                  <a:srgbClr val="102822"/>
                </a:solidFill>
              </a:defRPr>
            </a:pPr>
            <a:r>
              <a:rPr sz="3900" b="1">
                <a:solidFill>
                  <a:srgbClr val="102822"/>
                </a:solidFill>
              </a:rPr>
              <a:t>A sample export and one buying question</a:t>
            </a:r>
          </a:p>
        </p:txBody>
      </p:sp>
      <p:sp>
        <p:nvSpPr>
          <p:cNvPr id="4" name="">
            <a:extLst xmlns:a="http://schemas.openxmlformats.org/drawingml/2006/main">
              <a:ext uri="{FF2B5EF4-FFF2-40B4-BE49-F238E27FC236}">
                <a16:creationId xmlns:a16="http://schemas.microsoft.com/office/drawing/2014/main" id="{644E60F9-F8F9-4BF9-93F5-ADA59D10C855}"/>
              </a:ext>
            </a:extLst>
          </p:cNvPr>
          <p:cNvSpPr>
            <a:spLocks xmlns:a="http://schemas.openxmlformats.org/drawingml/2006/main" noGrp="1"/>
          </p:cNvSpPr>
          <p:nvPr/>
        </p:nvSpPr>
        <p:spPr>
          <a:xfrm xmlns:a="http://schemas.openxmlformats.org/drawingml/2006/main">
            <a:off x="762000" y="323850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822"/>
                </a:solidFill>
              </a:defRPr>
            </a:defPPr>
            <a:lvl1pPr>
              <a:defRPr sz="2250" b="0">
                <a:solidFill>
                  <a:srgbClr val="102822"/>
                </a:solidFill>
              </a:defRPr>
            </a:lvl1pPr>
            <a:lvl2pPr>
              <a:defRPr sz="2250" b="0">
                <a:solidFill>
                  <a:srgbClr val="102822"/>
                </a:solidFill>
              </a:defRPr>
            </a:lvl2pPr>
            <a:lvl3pPr>
              <a:defRPr sz="2250" b="0">
                <a:solidFill>
                  <a:srgbClr val="102822"/>
                </a:solidFill>
              </a:defRPr>
            </a:lvl3pPr>
            <a:lvl4pPr>
              <a:defRPr sz="2250" b="0">
                <a:solidFill>
                  <a:srgbClr val="102822"/>
                </a:solidFill>
              </a:defRPr>
            </a:lvl4pPr>
            <a:lvl5pPr>
              <a:defRPr sz="2250" b="0">
                <a:solidFill>
                  <a:srgbClr val="102822"/>
                </a:solidFill>
              </a:defRPr>
            </a:lvl5pPr>
            <a:lvl6pPr>
              <a:defRPr sz="2250" b="0">
                <a:solidFill>
                  <a:srgbClr val="102822"/>
                </a:solidFill>
              </a:defRPr>
            </a:lvl6pPr>
            <a:lvl7pPr>
              <a:defRPr sz="2250" b="0">
                <a:solidFill>
                  <a:srgbClr val="102822"/>
                </a:solidFill>
              </a:defRPr>
            </a:lvl7pPr>
            <a:lvl8pPr>
              <a:defRPr sz="2250" b="0">
                <a:solidFill>
                  <a:srgbClr val="102822"/>
                </a:solidFill>
              </a:defRPr>
            </a:lvl8pPr>
            <a:lvl9pPr>
              <a:defRPr sz="2250" b="0">
                <a:solidFill>
                  <a:srgbClr val="102822"/>
                </a:solidFill>
              </a:defRPr>
            </a:lvl9pPr>
          </a:lstStyle>
          <a:p xmlns:a="http://schemas.openxmlformats.org/drawingml/2006/main">
            <a:pPr>
              <a:defRPr sz="2250" b="0">
                <a:solidFill>
                  <a:srgbClr val="102822"/>
                </a:solidFill>
              </a:defRPr>
            </a:pPr>
            <a:r>
              <a:rPr sz="2250" b="0">
                <a:solidFill>
                  <a:srgbClr val="102822"/>
                </a:solidFill>
              </a:rPr>
              <a:t>Which product group should we examine?</a:t>
            </a:r>
          </a:p>
          <a:p xmlns:a="http://schemas.openxmlformats.org/drawingml/2006/main">
            <a:pPr>
              <a:defRPr sz="2250" b="0">
                <a:solidFill>
                  <a:srgbClr val="102822"/>
                </a:solidFill>
              </a:defRPr>
            </a:pPr>
            <a:r>
              <a:rPr sz="2250" b="0">
                <a:solidFill>
                  <a:srgbClr val="102822"/>
                </a:solidFill>
              </a:rPr>
              <a:t>Who can help explain the QuickBill reports?</a:t>
            </a:r>
          </a:p>
        </p:txBody>
      </p:sp>
      <p:sp>
        <p:nvSpPr>
          <p:cNvPr id="5" name="">
            <a:extLst xmlns:a="http://schemas.openxmlformats.org/drawingml/2006/main">
              <a:ext uri="{FF2B5EF4-FFF2-40B4-BE49-F238E27FC236}">
                <a16:creationId xmlns:a16="http://schemas.microsoft.com/office/drawing/2014/main" id="{C07A1C1F-B0FC-496D-934D-622490BD8E7B}"/>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745F"/>
                </a:solidFill>
              </a:defRPr>
            </a:defPPr>
            <a:lvl1pPr>
              <a:defRPr sz="1350" b="0">
                <a:solidFill>
                  <a:srgbClr val="53745F"/>
                </a:solidFill>
              </a:defRPr>
            </a:lvl1pPr>
            <a:lvl2pPr>
              <a:defRPr sz="1350" b="0">
                <a:solidFill>
                  <a:srgbClr val="53745F"/>
                </a:solidFill>
              </a:defRPr>
            </a:lvl2pPr>
            <a:lvl3pPr>
              <a:defRPr sz="1350" b="0">
                <a:solidFill>
                  <a:srgbClr val="53745F"/>
                </a:solidFill>
              </a:defRPr>
            </a:lvl3pPr>
            <a:lvl4pPr>
              <a:defRPr sz="1350" b="0">
                <a:solidFill>
                  <a:srgbClr val="53745F"/>
                </a:solidFill>
              </a:defRPr>
            </a:lvl4pPr>
            <a:lvl5pPr>
              <a:defRPr sz="1350" b="0">
                <a:solidFill>
                  <a:srgbClr val="53745F"/>
                </a:solidFill>
              </a:defRPr>
            </a:lvl5pPr>
            <a:lvl6pPr>
              <a:defRPr sz="1350" b="0">
                <a:solidFill>
                  <a:srgbClr val="53745F"/>
                </a:solidFill>
              </a:defRPr>
            </a:lvl6pPr>
            <a:lvl7pPr>
              <a:defRPr sz="1350" b="0">
                <a:solidFill>
                  <a:srgbClr val="53745F"/>
                </a:solidFill>
              </a:defRPr>
            </a:lvl7pPr>
            <a:lvl8pPr>
              <a:defRPr sz="1350" b="0">
                <a:solidFill>
                  <a:srgbClr val="53745F"/>
                </a:solidFill>
              </a:defRPr>
            </a:lvl8pPr>
            <a:lvl9pPr>
              <a:defRPr sz="1350" b="0">
                <a:solidFill>
                  <a:srgbClr val="53745F"/>
                </a:solidFill>
              </a:defRPr>
            </a:lvl9pPr>
          </a:lstStyle>
          <a:p xmlns:a="http://schemas.openxmlformats.org/drawingml/2006/main">
            <a:pPr>
              <a:defRPr sz="1350" b="0">
                <a:solidFill>
                  <a:srgbClr val="53745F"/>
                </a:solidFill>
              </a:defRPr>
            </a:pPr>
            <a:r>
              <a:rPr sz="1350" b="0">
                <a:solidFill>
                  <a:srgbClr val="53745F"/>
                </a:solidFill>
              </a:rPr>
              <a:t>09</a:t>
            </a:r>
          </a:p>
        </p:txBody>
      </p:sp>
    </p:spTree>
    <p:extLst>
      <p:ext uri="{BB962C8B-B14F-4D97-AF65-F5344CB8AC3E}">
        <p14:creationId xmlns:p14="http://schemas.microsoft.com/office/powerpoint/2010/main" val="9971819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2026-10-26T08:45:55.1460000Z</dcterms:created>
  <dcterms:modified xsi:type="dcterms:W3CDTF">2026-10-26T08:45:55.1460000Z</dcterms:modified>
</coreProperties>
</file>